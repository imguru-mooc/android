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8" d="100"/>
          <a:sy n="148" d="100"/>
        </p:scale>
        <p:origin x="7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도입, 3분]
Day 3 입니다. 이틀 동안 sp&lt;IBinder&gt;, sp&lt;Thread&gt; 같은 것을 "그냥 그렇게 쓰는 것" 으로 넘어왔습니다. 오늘 오전은 그 밑바닥입니다. sp 를 없는 상태에서 직접 만들고, Thread 를 pthread 부터 만들고, Looper 를 pollOnce 부터 만듭니다. 그러면 Day 2 의 Binder Thread 가 사실 android::Thread 였고, Java 의 Handler 가 사실 C++ Looper 였다는 것이 보입니다.
오후는 그 위에 쌓습니다. JNI 로 Java 와 C 를 잇고, SurfaceFlinger 에 직접 Layer 를 만들어 그리고, VSync 를 오전에 만든 Looper 로 받아 애니메이션을 만듭니다. 마지막에 pipe · ashmem · memfd 세 가지 공유 메모리를 Binder 로 넘기며 "FD 하나가 넘어간다" 는 것을 확인하고, meminfo 와 LMKD 로 마무리합니다.
[운영] 실습 7·8 JNI 는 빌드 서버의 호스트 JDK 로 합니다. Emulator 가 아닙니다. 실습 1 에서 javac 를 확인하세요. 나머지는 Day 2 와 같이 m &lt;모듈명&gt; → adb push 입니다.
[확인] Day 2 의 my_server_test_4 바이너리가 Emulator 에 남아 있는지 확인하세요. 실습 6 에서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2분]
Part 0 는 15분입니다. Android.bp 를 한 번에 등록하는 것은 Day 2 와 같고, JDK 확인이 추가됩니다.
Part 1 강의 115분. Ch1 libutils 가 40분으로 가장 깁니다. sp·Thread·Looper 세 가지를 단계별로 설명하고, 마지막에 Binder Thread 와 Looper Thread 의 차이로 정리합니다. Ch2 JNI 20분, Ch3 Graphics 25분, Ch4 공유 메모리와 Memory 30분입니다.
Part 2 실습 315분. 실습 2 부터 6 까지가 오전, 7 부터 12 가 오후입니다.
[강조] 노란 상자. 오전에 만든 것이 오후에 그대로 쓰입니다. 실습 5 의 LooperCallback 이 실습 10 의 VSyncHandler 이고, 실습 3 의 sp 가 실습 9 의 sp&lt;SurfaceControl&gt; 입니다. 오후에 "이거 오전에 만든 거죠?" 라고 자주 물으세요.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2분 + 실습 15분]
실습 1 은 Day 2 와 같은 흐름입니다. 다른 점 두 가지. 첫째, adb shell ls -l /dev/ashmem 과 memfd 심볼 확인이 있습니다. 실습 11 이 이 둘을 씁니다. /dev/ashmem 이 없어도 MemoryHeapBase 가 memfd 를 쓰므로 실습은 진행됩니다. 둘째, 호스트 JDK 입니다. sudo apt install default-jdk 후 javac -version 이 나와야 실습 7·8 이 됩니다.
Android.bp 는 문서에 완성본이 있습니다. 실습 2~12 의 모듈 15개가 한 파일입니다. m sp_test 로 분석을 한 번 돌리고, 링크 오류는 무시합니다.
[운영] Day 2 와 같이 4명씩 순차로 분석을 돌립니다.
[체크포인트] javac -version 출력 + analyzing Android.bp 통과.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1분]
Chapter 1, 40분. libutils 의 세 가지, sp·Thread·Looper 입니다. Binder 객체, Surface, Input, SurfaceFlinger 가 전부 이 셋 위에서 돕니다. 각각을 "없는 상태에서 만들어 가며" 설명합니다. 애니메이션 1~5 번을 씁니다.
목표는 하나입니다. Day 2 의 Binder Thread 가 android::Thread 이고, Java Handler 가 C++ Looper 라는 것을 실습 6 에서 소스로 확인할 수 있을 만큼 구조를 아는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8분, 애니메이션 1 재생]
sp 를 직접 만들어 봅니다. 실습 2 의 네 단계입니다. 위 흐름을 따라가세요.
① 가장 단순한 것. sp 소멸자에서 delete. 동작하지만 sp&lt;AAA&gt; q = p 처럼 복사하면 두 소멸자가 같은 객체를 두 번 delete 합니다. crash.
② 그러면 세자. static int mRefs. 복사는 되는데 객체가 두 개면 카운트를 공유해서 한쪽이 누수됩니다. 카운트는 객체마다 있어야 합니다.
③ 객체 안에 mRefs 와 incStrong/decStrong 을 넣습니다. 정확히 동작합니다. 그런데 BBB, CCC 마다 똑같이 반복해야 합니다.
④ 공통 부모로 뽑습니다. RefBase. 이것이 Android 구조입니다. 아래 코드가 전부입니다. decStrong 에서 delete this — 객체가 스스로 사라집니다. 소멸자가 virtual 이어야 파생 소멸자가 불립니다.
애니메이션 1 번을 재생하세요. 오른쪽 게이지 mStrong 이 sp 가 붙을 때 오르고 사라질 때 내려가 0 에서 delete this 가 되는 것을 봅니다.
핵심 단어는 intrusive 입니다. 카운트가 객체 안에 있으니 raw 포인터를 다시 sp 로 감싸도 카운트가 맞습니다. std::shared_ptr 은 control block 이 따로라 raw 를 두 번 감싸면 이중 해제됩니다. Binder 객체처럼 this 를 여기저기 넘겨야 하는 곳에서 intrusive 가 필요한 이유입니다.
[규칙] new 직후 바로 sp 에 담고, delete 는 절대 직접 쓰지 않는다. Day 2 부터 delete 를 한 번도 안 쓴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6분, 애니메이션 2 재생]
wp 는 카운트를 올리지 않는 참조입니다. 화살표 연산자가 없습니다. 쓰려면 promote() 로 sp 를 얻어야 하고, 객체가 이미 죽었으면 nullptr 가 옵니다. 코드 위 다섯 줄이 실습 3 ③ 입니다. 애니메이션 2 번을 재생하세요.
왜 필요한가. 순환 참조입니다. A 가 sp&lt;B&gt;, B 가 sp&lt;A&gt; 를 가지면 main 이 둘 다 놓아도 서로가 mStrong 1 을 유지해 영원히 안 죽습니다. 실습 3 ④ 에서 소멸자가 안 찍히는 것을 봅니다. 한쪽을 wp 로 바꾸면 해결됩니다. Listener, Callback, 부모↔자식이 전형적인 자리입니다. Day 1 의 RemoteCallbackList 가 내부적으로 이렇게 되어 있습니다.
아래 표. RefBase 는 카운트가 둘입니다. mStrong 은 sp 의 수, 0 이면 객체 소멸. mWeak 는 sp+wp 의 수, 0 이면 카운트 블록(weakref_impl) 소멸. 그래서 객체가 죽은 뒤에도 wp 는 안전하게 "죽었다" 를 압니다.
onFirstRef 를 여기서 언급하세요. mStrong 이 0 에서 1 이 되는 순간 한 번 불리는 훅입니다. 다음 슬라이드 Thread 에서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8분, 애니메이션 3 재생]
Thread 도 없는 상태에서 만듭니다. 실습 4 의 네 단계. 애니메이션 3 번을 재생하세요.
① pthread_create 를 클래스로 감쌉니다. 엔트리 foo 가 전역 함수라 멤버에 접근할 수 없습니다.
② pthread 는 C 함수 포인터만 받습니다. 멤버 함수는 숨은 this 인자가 있어 타입이 다릅니다. 그래서 static 함수로 받고 4번째 인자로 넘긴 this 를 복원합니다. 이 "static 트램폴린 + this" 가 오늘 하루 계속 나옵니다. Looper 콜백, JNI, PoolThread.
③ 순수 가상 handler(). 실행 골격은 부모, 내용은 자식. 프레임워크의 형태입니다.
④ android::Thread. 같은 구조에 RefBase 가 붙었습니다. run 이 pthread_create, readyToRun 이 1회 초기화, threadLoop 이 반복. true 면 다시 불리고 false 면 끝납니다. while(1) 을 직접 쓰지 않습니다.
코드의 onFirstRef 를 보세요. 생성자 안에서는 sp&lt;this&gt; 를 만들 수 없으니, sp 에 담기는 순간 불리는 이 훅에서 run 을 합니다. sp&lt;Thread&gt; p = new MyThread; 한 줄로 Thread 가 시작됩니다.
Thread 가 RefBase 인 이유. run 이 자기 자신을 sp 로 한 번 더 잡습니다(mHoldSelf). 실습 4 마지막 실험에서 main 이 sp 를 바로 버려도 threadLoop 이 끝까지 도는 것을 봅니다. tags 로 Thread::_threadLoop 을 열면 sp&lt;Thread&gt; strong(self-&gt;mHoldSelf) 가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10분, 애니메이션 4 재생]
Looper 입니다. 실습 5 의 다섯 단계를 표로 정리했습니다. 애니메이션 4 번을 재생하면서 갑니다.
① new Looper(true) 하고 pollOnce(1000). 내부는 epoll_wait 입니다. 등록된 fd 는 wake 용 eventfd 하나뿐이라 1초 후 POLL_TIMEOUT.
② 다른 Thread, 실습 4 의 MyThread 가 3초 후 looper-&gt;wake(). eventfd 에 1 을 씁니다. epoll 이 깨어나 POLL_WAKE.
③ addFd. pipe 의 읽기 fd 를 콜백 함수, data 포인터와 함께 등록합니다. MyThread 가 쓰기 쪽에 write 하면 Looper 가 foo(fd, events, data) 를 부르고 POLL_CALLBACK 을 반환합니다. data 로 넘긴 값이 그대로 돌아옵니다. 실습 4 ② 의 this 자리입니다.
④ 그래서 콜백을 클래스로 만들 수 있습니다. static 트램폴린에 this 를 data 로. Android 는 이것을 LooperCallback 으로 이미 제공합니다. handleEvent 가 가상 함수입니다. 실습 10 의 VSyncHandler 가 정확히 이것입니다.
⑤ 다른 얼굴. sendMessage 와 sendMessageDelayed. 메시지를 큐에 넣고 wake 합니다. pollOnce 는 fd 를 처리한 뒤 만기된 메시지를 handleMessage 로 보냅니다. Message.what 으로 분기하는 것이 Day 1 Messenger 와 같은 모양이죠. Java Handler.sendMessageDelayed 의 실체가 이것입니다.
정리. 한 Looper 안에 fd 이벤트 루프와 메시지 큐 두 기능이 있습니다. Java 의 Looper/Handler/MessageQueue 는 이 C++ Looper 의 JNI wrapper 이고, nativePollOnce 가 pollOnce 입니다. 실습 6 에서 소스로 확인합니다.
[실험] strace -e epoll_wait,epoll_ctl,eventfd2 로 실습 5 바이너리를 돌리면 이 표의 시스템 콜이 그대로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7분, 애니메이션 5 재생]
오전의 결론입니다. 애니메이션 5 번을 재생하세요.
왼쪽 Binder Thread. Day 2 에서 startThreadPool 이 Binder Thread 를 만든다고 했습니다. 그 정체가 위 코드입니다. PoolThread : Thread — 실습 4 ④ 의 android::Thread 입니다. threadLoop 이 joinThreadPool 을 부르는데, 이것은 ioctl 로 Driver 를 기다리는 루프라 반환하지 않습니다. return false 는 형식입니다.
오른쪽 Main Thread. Java Looper.loop() 가 MessageQueue.next() 를 반복하는데 그 안이 nativePollOnce, 즉 C++ Looper::pollOnce 입니다. 실습 5 의 루프입니다.
표를 보세요. 두 루프는 기다리는 대상이 다릅니다. Binder Thread 는 Driver, Looper Thread 는 fd 집합. 서로의 일을 직접 못 합니다. Binder Thread 에는 Looper 가 없으니 UI 나 Handler 큐를 만질 수 없습니다. 그래서 Day 1 실습 9 에서 runOnUiThread 를 썼습니다. 그것은 Handler.post 이고, enqueueMessage 후 nativeWake, 즉 실습 5 ② 의 Looper::wake 입니다. Binder Thread 의 일이 Looper 큐를 거쳐 Main Thread 로 넘어가는 것입니다.
실습 6 에서 이 세 가지를 소스로 확인합니다. :tag ProcessState::spawnPooledThread, :tag IPCThreadState::joinThreadPool, :tag android_os_MessageQueue_nativePollOnce. 그리고 Day 2 의 my_server_test_4 로 startThreadPool 유무에 따라 tid 가 분산되는지 봅니다.
[질문] "Binder Thread 에서 Looper::prepare 를 부르면 UI 를 만질 수 있나요?" — Looper 는 생기지만 그것은 그 Thread 의 Looper 이지 Main Looper 가 아닙니다. View 는 Main Looper Thread 에서만. Worksheet Q5.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45분]
실습 2 와 3 을 이어서 합니다.
실습 2, 25분. sp.cpp 한 파일에 네 단계가 #if 로 있습니다. 한 번에 하나만 켜고 빌드·실행합니다. ① 에서 sp&lt;AAA&gt; q = p 를 추가하면 crash, ② 에서 객체를 두 개 만들면 소멸자가 한 번만 찍힙니다. 이 두 실패를 꼭 재현시키세요. ④ 에서 ~RefBase 의 virtual 을 빼면 AAA::~AAA 가 안 불리는 것도 확인합니다.
실습 3, 20분. 이제 Android 의 utils/RefBase.h 입니다. 실습 2 ④ 와 같은 코드가 그대로 돕니다. wp 만 만들면 즉시 소멸, promote 는 살아 있을 때만 성공. ④ 순환 참조에서 "after" 만 찍히고 소멸자가 없는 것을 보고, ⑤ 에서 wp 로 바꿔 둘 다 소멸하는 것을 봅니다.
[마무리 질문] "Day 2 에서 sp&lt;IBinder&gt; 를 delete 한 적이 있나요?" — 없습니다. 마지막 sp 가 사라질 때 객체가 스스로 사라졌습니다. 오늘 만든 것이 그것입니다.
[흔한 문제] #if 를 두 개 켜서 main 중복 정의. 한 번에 하나만.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70분]
실습 4, 30분. thread.cpp 의 네 단계를 #if 로 전환합니다. ② 에서 this 없이 static 에서 mData 를 접근해 보게 하면 컴파일 오류가 나고, 이것이 트램폴린이 필요한 이유입니다. ④ my_thread.cpp 에서 로그 순서를 확인합니다. 생성자 → onFirstRef → readyToRun → threadLoop ×3 → parent. 마지막 실험, main 이 sp 를 바로 버려도 3번 도는 것을 꼭 보게 하세요.
실습 5, 40분. Looper.cpp 의 다섯 단계. ③ 에서 data 로 넘긴 0x1234 가 콜백 인자로 돌아오는 것, ④ 에서 그것을 this 로 바꾸면 클래스 콜백이 되는 것, ⑤ 에서 sendMessageDelayed 의 3초 지연. 시간이 되면 strace 로 epoll_wait 와 eventfd 를 봅니다.
[연결] 실습 5 ④ 의 MyHandler 를 실습 10 에서 VSyncHandler 로 그대로 씁니다. "이 클래스 이름만 바꾸면 VSync 핸들러" 라고 예고하세요.
[시간 관리] 실습 5 가 길어지면 ⑤ 는 완성 코드로 실행만 하고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2분 + 실습 20분]
실습 6 은 읽기 반, 실험 반입니다.
읽기. tags 로 ProcessState::spawnPooledThread 를 엽니다. PoolThread : Thread 와 threadLoop 안의 joinThreadPool. 그 다음 joinThreadPool 자체를 열어 do { getAndExecuteCommand } while 루프를 봅니다. 문서의 비교표로 Looper::pollOnce 와 대조합니다.
실험. Day 2 my_server_test_4 를 띄우고 ps -T 로 Thread 이름을 봅니다. binder:PID_1, _2. Thread::run(name) 의 name 입니다. client 3개 동시 실행으로 tid 분산을 보고, startThreadPool 을 주석 처리해 재빌드하면 tid 가 하나로 모입니다.
마지막으로 android_os_MessageQueue.cpp 에서 nativePollOnce 와 wake 를 찾습니다. Java Looper 한 개 = C++ Looper 한 개.
[정리 질문] "Day 1 StockLab 의 onPriceUpdate 에서 runOnUiThread 를 빼면 왜 죽었나요?" — Binder Thread 에는 Main Looper 가 없어서. 오늘 그 이유를 소스로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1분]
Chapter 2, 20분. JNI 입니다. 오전에 C++ 만 봤는데, Framework 의 절반은 Java 입니다. 그 둘이 만나는 곳이 JNI 이고, Day 1 의 Java Binder 가 Day 2 의 BBinder 로, Java Handler 가 오늘 아침 Looper 로 이어지는 지점이 여기 있습니다. 애니메이션 6 번을 씁니다. 실습 7·8 은 호스트 JDK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10분, 애니메이션 6 재생]
JNI 를 두 방향으로 봅니다. 애니메이션 6 번을 재생하세요.
Java → C. Java 에서 native void foo() 를 선언하고 System.loadLibrary 로 .so 를 올리면, ART 가 Java_Hello_foo 라는 이름의 심볼을 찾습니다. 패키지_클래스_메서드 규칙입니다. javac -h 가 이 이름의 헤더를 만들어 줍니다. 실습 7 First.
또는 JNI_OnLoad 에서 RegisterNatives 로 {이름, 시그니처, 함수} 테이블을 등록합니다. 심볼을 노출하지 않아도 되고 static 함수도 됩니다. frameworks/base/core/jni 의 파일이 전부 이 방식입니다. Third.
C → Java. FindClass, GetMethodID, NewObject. 생성자 이름은 &lt;init&gt;, 시그니처 (I)V 는 int 받고 void. C 에서 new JniTest(100) 을 만들어 Java 로 돌려줍니다. Second.
표의 규칙 네 가지. JavaVM 은 Process 에 하나, JNIEnv 는 Thread 에 하나라 다른 Thread 에 넘기면 안 됩니다. jobject 는 Local ref 라 함수를 벗어나면 무효, 보관하려면 NewGlobalRef. 시그니처는 javap -s 로 확인. Native Thread, 예를 들어 오전의 android::Thread 에서 Java 를 부르려면 AttachCurrentThread 가 먼저입니다.
Invocation API. 반대로 Native 프로세스가 JNI_CreateJavaVM 으로 VM 을 만들 수 있습니다. app_process 가 이렇게 ART 를 만들고 Framework JNI 를 전부 RegisterNatives 한 뒤 ZygoteInit.main 을 부릅니다. Day 1 의 Zygote 입니다. 실습 8.
Framework JNI 세 지점을 실습 8 에서 읽습니다. JavaBBinder 가 Day 1 과 Day 2 를, NativeMessageQueue 가 Java Handler 와 오전 Looper 를, Surface.mNativeObject 가 Java 와 다음 챕터를 잇습니다. 패턴은 하나, "Java 객체 안의 long 이 C++ 포인터".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60분]
실습 7·8 은 빌드 서버에서 호스트 JDK 로 합니다. Emulator 를 쓰지 않습니다.
실습 7, 35분. First 부터. javac -h 로 헤더를 만들고 함수 이름이 Java_Hello_foo 인 것을 확인한 뒤 gcc -shared 로 .so 를 만듭니다. jni.h 경로는 $JAVA_HOME/include. Second 에서 C 가 Java 객체를 만듭니다. &lt;init&gt; 과 (I)V 시그니처를 javap -s 로 확인시키세요. Third 에서 RegisterNatives. -h 없이도 되고 foo 가 static 인 것을 강조합니다.
실습 8, 25분. invocation.cpp 를 -ljvm 으로 링크해 실행하면 Java main 이 불립니다. 그 다음 app_main.cpp 를 열어 AndroidRuntime::start 가 같은 일을 하는 것을 봅니다. JNI_CreateJavaVM → startReg → main. 마지막으로 tags 로 JavaBBinder 를 열어 onTransact 안의 CallBooleanMethod(execTransact) 줄을 찾습니다. Day 1 의 Stub.onTransact 가 여기서 불립니다.
[흔한 문제] jni.h 를 못 찾으면 JAVA_HOME. UnsatisfiedLinkError 는 LD_LIBRARY_PATH 또는 함수 이름 불일치. 문서 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1분]
Chapter 3, 25분. SurfaceFlinger 입니다. 오전의 sp 와 Looper 가 그대로 쓰입니다. Layer 핸들이 sp&lt;SurfaceControl&gt;, VSync 가 Looper::addFd. 애니메이션 7 번, 실습 9·10.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10분, 애니메이션 7 재생]
Producer, BufferQueue, Consumer 세 상자입니다. 애니메이션 7 번을 재생하세요. 가운데 버퍼 세 개의 상태가 FREE → DEQUEUED → QUEUED → ACQUIRED → FREE 로 도는 것을 봅니다.
Client. SurfaceComposerClient 가 SurfaceFlinger 의 Binder Proxy 입니다. createSurface 가 Layer 를 만들고 sp&lt;SurfaceControl&gt; 을 돌려줍니다. 오전의 RefBase 입니다. Transaction 에 setLayer, setPosition, show 를 모아 apply 하면 한 VSync 에 원자적으로 적용됩니다.
그리기. getSurface 로 ANativeWindow 를 얻고 lock 하면 BufferQueue 에서 버퍼 하나를 빌립니다(dequeue). 픽셀을 쓸 때 stride 를 써야 합니다. 한 줄이 width 보다 길 수 있습니다. 실습 9 에서 width 로 바꾸면 그림이 비뚤어지는 것을 봅니다. unlockAndPost 가 queue 입니다.
BufferQueue. 버퍼는 dmabuf 이고 FD 로 SurfaceFlinger 와 공유됩니다. 400×400 픽셀은 한 번도 복사되지 않습니다. Day 1 FD 전달과 같은 메커니즘입니다. 다음 챕터에서 다시 봅니다.
Consumer. SurfaceFlinger 는 VSync 마다 acquire 해 모든 Layer 를 z 순서로 합성하고 HWC 로 출력합니다. 표시가 끝나면 release 로 버퍼가 돌아옵니다.
VSync 는 SurfaceFlinger 가 fd 로 알려 줍니다. DisplayEventReceiver 의 fd 를 오전 실습 5 의 Looper::addFd 로 등록하면 매 프레임 콜백이 옵니다. 실습 10 입니다. handleEvent 가 16.67 ms 를 넘기면 다음 프레임을 놓칩니다. 실습 13 Perfetto 로 봅니다.
[연결] App 의 SurfaceView 도 WMS 가 같은 createSurface 를 대신 불러 준 것입니다. Java Surface.mNativeObject 가 sp&lt;Surface&gt; 라는 것을 실습 8 에서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60분]
실습 9, 30분. main.cpp 를 그대로 빌드해 실행하면 Car Launcher 위에 빨간 사각형이 뜹니다. Ctrl+C 로 종료하면 사라집니다. 이것이 Layer 수명 = sp&lt;SurfaceControl&gt; 수명입니다. 실험 네 가지를 꼭 시키세요. setLayer(0) 으로 Launcher 아래로 숨기기, stride 를 width 로 바꿔 비뚤어지는 것, while(true) 를 지워 즉시 사라지는 것, lock 을 두 번 해서 다른 버퍼가 오는 것.
실습 10, 30분. vsync_anim.cpp 의 VSyncHandler 를 열고 "실습 5 ④ 의 MyHandler 와 같다" 고 먼저 말하세요. LooperCallback 상속, handleEvent 가상 함수, Looper::addFd 에 new VSyncHandler. 실행하면 초록 사각형이 10초간 이동합니다. setVsyncRate(2) 로 절반 속도, usleep(20000) 으로 끊김, requestNextVsync 제거로 한 프레임만 오는 것을 실험합니다.
sp 와 unique_ptr 구분을 짚으세요. SurfaceControl 은 RefBase 라 sp, DisplayEventReceiver 는 아니라 unique_ptr. recv 를 sp 로 바꾸면 컴파일 오류가 납니다.
[흔한 문제] SurfaceComposerClient initCheck 실패는 SurfaceFlinger 접근 권한 — adb root 상태인지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1분]
Chapter 4, 30분. 두 주제입니다. 앞은 공유 메모리. Day 1 실습 11 에서 "FD 만 Binder 로" 라고 했는데, 그 FD 가 무엇을 가리키는지에 따라 pipe, ashmem, memfd, dmabuf 로 나뉩니다. 뒤는 측정과 LMKD. 애니메이션 8 번, 실습 11·12.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12분, 애니메이션 8 재생]
위 흐름부터. 서버가 writeFileDescriptor(7). Parcel 에 flat_binder_object 가 BINDER_TYPE_FD 로 실립니다. Driver 가 수신 Process 의 fd 테이블에 같은 file 객체를 dup 해서 새 번호 5 를 줍니다. Client 가 readFileDescriptor 하면 5 입니다. 실습 11 ① 에서 이 번호가 다른 것을 봅니다. 숫자가 아니라 커널 file 객체 참조가 넘어갑니다. 애니메이션 8 번을 재생하세요.
그 file 객체가 무엇이냐가 표입니다.
pipe. 커널 링 버퍼 64 KB. 데이터가 복사되어 흐르고, 순차, 한 번 읽으면 사라집니다. Day 1 실습 11 의 ParcelFileDescriptor.createPipe. 로그와 스트리밍.
ashmem. /dev/ashmem 의 페이지를 양쪽이 mmap. 복사가 없고 임의 접근입니다. unpin 하면 메모리 압박 시 커널이 회수합니다. libbinder 는 이것을 MemoryHeapBase 로 감싸 IMemoryHeap Binder 객체로 만듭니다. 오른쪽 코드. Client 가 interface_cast 하는 순간 BpMemoryHeap 이 FD 를 받아 mmap 까지 합니다. getBase 는 그냥 로컬 포인터. MemoryBase 는 그 heap 의 일부(offset, size)만 IMemory 로 공개합니다. AudioFlinger 가 AudioTrack 마다 이렇게 잘라 줍니다.
memfd. memfd_create 로 만드는 tmpfs 익명 파일. ashmem 의 커널 상류 대체이고 Android 11+ 의 SharedMemory 와 MemoryHeapBase 내부가 이것입니다. F_SEAL_WRITE 를 걸면 받는 쪽이 내용을 못 바꾼다는 것을 커널이 보장합니다. 실습 11 ③ 에서 PROT_WRITE mmap 이 EPERM 나는 것을 봅니다.
dmabuf. 방금 본 GraphicBuffer. GPU 와 디스플레이 하드웨어까지 같은 버퍼를 봅니다.
[핵심 문장] Binder Transaction Buffer 1 MB 는 FD 하나만 씁니다. 큰 데이터는 언제나 이 네 가지 중 하나로.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8분]
측정입니다. 표의 네 지표 중 실무에서 보는 것은 PSS 와 USS 입니다. PSS 는 공유 페이지를 공유하는 프로세스 수로 나눠 배분한 값이라 합산하면 전체와 맞습니다. USS 는 그 프로세스만의 페이지라 죽이면 돌아오는 양입니다.
dumpsys meminfo 항목. Native Heap 은 malloc, Dalvik Heap 은 Java 객체. .so mmap 이 shared clean 으로 크게 잡히는데 이것이 Day 1 에서 말한 Zygote COW 입니다. Framework 코드를 모든 App 이 공유하니 App 하나의 PSS 는 작습니다. Ashmem / Other mmap 이 실습 11 에서 만든 공유 메모리, Graphics 가 실습 9·10 의 GraphicBuffer 입니다. Native Heap 이 아니라 별도 항목이라는 점.
LMKD. oom_score_adj 는 AMS 가 Process 상태에 따라 붙입니다. Foreground 0, Visible 100~200, Service 500, Cached 900 이상. lmkd 데몬이 PSI 로 메모리 압박을 감지하면 점수 높은 것부터 죽입니다. 실습 12 에서 MemHog 앱으로 압박을 만들어 logcat -s lmkd 에서 Kill 순서를 봅니다. Settings 앱을 열었다 홈으로 나가면 점수가 0 에서 900 대로 바뀌는 것도 확인합니다.
[연결] 실습 3 의 순환 참조가 Native Heap 누수의 전형입니다. dumpsys meminfo --unreachable 과 libmemunreachable 로 찾습니다.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30분]
실습 11 은 세 쌍의 서버/클라이언트입니다. 모두 실습 1 에서 등록된 모듈이라 m 한 번으로 빌드됩니다.
① pipe. 서버가 pipe 를 만들고 읽기 쪽 fd 를 writeFileDescriptor 로 보냅니다. 쓰기는 실습 4 의 android::Thread 로 만든 Writer 가 합니다. 서버 로그의 fd 번호와 Client 로그의 fd 번호가 다른 것을 확인시키세요. dup 의 증거입니다. 8 MB 가 문제없이 옵니다.
② ashmem1. MemoryHeapBase 4 KB 를 addService. Client 는 interface_cast&lt;IMemoryHeap&gt; 후 getBase 로 서버가 쓴 문자열을 읽습니다. 복사가 없습니다. 서버 코드에서 sprintf 를 바꾸고 재실행하면 바로 반영됩니다. ashmem2 는 MemoryBase 로 offset 2048 부터 1 KB 만 공개. Client 의 getMemory 가 offset 과 size 를 돌려줍니다. ls -l /proc/&lt;pid&gt;/fd 로 /dev/ashmem 또는 /memfd: 를 봅니다.
③ memfd. 서버가 memfd_create, ftruncate, mmap, 문자열 write 후 F_ADD_SEALS. Client 가 PROT_READ 로는 읽지만 PROT_WRITE mmap 과 ftruncate 는 EPERM. 커널이 봉인을 보장합니다.
마지막에 문서의 비교표를 각자 채우게 하세요. 복사 여부, 접근, 보호, 사용처.
[흔한 문제] /dev/ashmem 이 없으면 MemoryHeapBase 가 memfd 를 쓰므로 fd 링크가 /memfd:MemoryHeapBase 로 보입니다. 정상입니다.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2분 + 실습 30분]
실습 12 는 명령으로 관찰만 합니다. 실습 9 의 서버를 띄워 두면 Layer 를 볼 수 있습니다.
Graphics. dumpsys SurfaceFlinger 에서 My Cpp Surface 를 찾아 z, pos, activeBuffer 를 봅니다. stride 가 448 처럼 width 400 보다 큰 것이 실습 9 실험의 답입니다. --latency 로 VSync 주기.
Memory. dumpsys meminfo com.android.car 의 항목을 문서 표로 해석합니다. 실습 11 서버들을 띄워 두면 그 PSS 에 Ashmem 항목이 잡힙니다. showmap 으로 zygote64 와 App 의 shared clean 을 비교해 COW 를 봅니다.
LMKD. Settings 앱을 열고 oom_score_adj 를 읽고, 홈으로 나간 뒤 다시 읽으면 0 에서 900 대로 바뀝니다. MemHog 앱은 버튼당 50 MB 를 누적합니다. logcat -s lmkd 를 켜 두고 누르면 캐시된 프로세스가 점수 높은 순으로 죽습니다. Emulator RAM 을 2 GB 로 줄인 AVD 가 있으면 빨리 재현됩니다.
[정리] "실습 11 의 ashmem 페이지는 meminfo 의 어느 항목에 잡혔나요?" — Ashmem/Other mmap. Native Heap 이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데모 15분]
마지막 데모입니다. 실습 10 애니메이션을 띄운 채 perfetto 로 6초를 캡처하고 ui.perfetto.dev 에서 엽니다.
vsync_rect 를 검색하면 우리 Layer 의 Actual/Expected Timeline 트랙이 있습니다. 정상이면 초록 프레임이 16.67 ms 간격으로 이어집니다. surfaceflinger 프로세스에서 onMessageRefresh, composite, HWC 슬라이스가 VSync 마다 반복되고, sf_vsync_anim 의 main Thread 에서 handleEvent 가 VSync 직후 아주 짧게 실행되는 것이 보입니다. 오전 Looper 의 콜백입니다.
step() 에 usleep(20000) 을 넣고 다시 캡처하면 handleEvent 가 20 ms 로 늘어나 다음 VSync 를 침범합니다. Actual Timeline 에 빨간 프레임, App Deadline Missed. SurfaceFlinger 는 제때 합성하지만 새 Transaction 이 없어 같은 위치를 그리니 화면이 툭툭 끊깁니다.
[연결] Day 4 SystemUI 실습에서 같은 방법으로 Java App 의 UI Thread 와 RenderThread Jank 를 봅니다. 오늘은 Native 한 Thread 라 단순하지만 원리는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Worksheet 20분]
Worksheet 20문제, 20분. 버튼으로 Day3_Worksheet.html 을 엽니다.
Q18 Thread 생명주기 순번은 애니메이션 3 번 후반을, Q19 픽셀→화면 순번은 애니메이션 7 번을 다시 틀어 놓고 풀이하면 됩니다. Q20 선잇기는 슬라이드 20 의 표입니다.
15분 후 정답·해설 모두 보기로 풀이합니다.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마무리 3분]
오늘 확인한 것 다섯 가지.
sp/wp: 카운트는 객체 안에 있고(RefBase), wp 는 promote 후 검사하며, 순환은 한쪽을 wp 로. 실습 2·3.
Thread·Looper: static+this 트램폴린으로 C 콜백에 객체를 넘기고, threadLoop 반환값으로 루프를, Looper 는 epoll fd 루프와 메시지 큐 두 얼굴. 실습 4·5.
Binder 와의 관계: Binder Thread 는 PoolThread 의 joinThreadPool 루프, Main 은 Looper::pollOnce 루프. 다른 루프라 콜백은 Handler.post 로 큐에 넣어 넘긴다. 실습 6.
JNI·Graphics: 이름 규칙과 RegisterNatives, Java 객체의 long 이 C++ 객체. SurfaceFlinger 는 Producer→BufferQueue→Consumer, VSync fd 는 오전의 addFd. 실습 7~10.
공유 메모리: Binder 로 넘어가는 것은 FD 참조 하나. pipe 는 복사, ashmem·memfd 는 페이지 공유, seal 은 커널 보장, dmabuf 는 하드웨어까지. 실습 11·12.
내일 Day 4 는 시스템 이미지를 바꾸는 날입니다. APEX, RRO, SystemUI 커스터마이징, 그리고 Automotive 의 CarService·CarPropertyManager·VHAL. Day 2 의 HAL 규칙과 오늘의 Perfetto 가 그대로 이어집니다.
[마무리 확인] 초록 사각형이 움직인 분, memfd EPERM 을 본 분 손 들어 주세요. 안 된 분은 남아서 해결합니다. day3 디렉토리는 지우지 마세요.
수고하셨습니다.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Day3_Animation.html#s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Day3_Animation.html#s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Day3_Animation.html#s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Day3_Animation.html#s4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Day3_Animation.html#s5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Day3_Animation.html#s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hyperlink" Target="Day3_Animation.html#s2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Day3_Animation.html#s3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hyperlink" Target="Day3_Animation.html#s4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Day3_Animation.html#s5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Day3_Animation.html#s6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Day3_Animation.html#s6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Day3_Animation.html#s7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Day3_Animation.html#s7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hyperlink" Target="Day3_Animation.html#s4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Day3_Animation.html#s8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Day3_Animation.html#s8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Day3_Worksheet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D7A6D8-5BA6-4578-AF53-A842EC0D9063}"/>
              </a:ext>
            </a:extLst>
          </p:cNvPr>
          <p:cNvSpPr>
            <a:spLocks noGrp="1"/>
          </p:cNvSpPr>
          <p:nvPr/>
        </p:nvSpPr>
        <p:spPr>
          <a:xfrm>
            <a:off x="731520" y="1828800"/>
            <a:ext cx="60350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</a:t>
            </a:r>
            <a:endParaRPr sz="3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A40851-298F-4511-8008-14764FE116AD}"/>
              </a:ext>
            </a:extLst>
          </p:cNvPr>
          <p:cNvSpPr>
            <a:spLocks noGrp="1"/>
          </p:cNvSpPr>
          <p:nvPr/>
        </p:nvSpPr>
        <p:spPr>
          <a:xfrm>
            <a:off x="731520" y="2743200"/>
            <a:ext cx="60350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CAD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3 — sp/wp · Thread · Looper · JNI · SurfaceFlinger · 공유 메모리</a:t>
            </a:r>
            <a:endParaRPr sz="1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E2C8AB5-E16A-4A2B-8043-D3803999B8A0}"/>
              </a:ext>
            </a:extLst>
          </p:cNvPr>
          <p:cNvSpPr>
            <a:spLocks noGrp="1"/>
          </p:cNvSpPr>
          <p:nvPr/>
        </p:nvSpPr>
        <p:spPr>
          <a:xfrm>
            <a:off x="731520" y="3749040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libutils 3종 세트를 밑바닥부터 → Binder Thread 의 정체 → JNI → SurfaceFlinger Client (VSync + Looper) → pipe · ashmem · memfd → Memory / LMKD</a:t>
            </a:r>
            <a:endParaRPr sz="13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96B4254-7EBA-4D0B-B844-D9141A6E68AF}"/>
              </a:ext>
            </a:extLst>
          </p:cNvPr>
          <p:cNvSpPr>
            <a:spLocks noGrp="1"/>
          </p:cNvSpPr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애니메이션 · Worksheet 링크는 각 설명 슬라이드에 있으며, 이 파일과 같은 폴더의 Day3_Animation.html / Day3_Worksheet.html 를 엽니다.</a:t>
            </a:r>
            <a:endParaRPr sz="100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32320" y="1463106"/>
            <a:ext cx="4389120" cy="39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573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F0D667-7E64-49B3-925C-D1363364082F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7D9D39-F46E-4745-BB86-8487FEA826AC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3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1D2617-4D6F-41A2-9376-E0CCA10DC0B8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오늘의 일정 — 8시간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BE00BD0-A718-4495-92CD-FB18705BEE82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611E59-92C2-42B0-9D1C-B1B53B16EB86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</a:t>
            </a:r>
            <a:endParaRPr sz="900"/>
          </a:p>
        </p:txBody>
      </p:sp>
      <p:graphicFrame>
        <p:nvGraphicFramePr>
          <p:cNvPr id="19" name="Table 0"/>
          <p:cNvGraphicFramePr/>
          <p:nvPr/>
        </p:nvGraphicFramePr>
        <p:xfrm>
          <a:off x="457200" y="1737360"/>
          <a:ext cx="7589520" cy="18592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Part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내용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소요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Part 0 환경·등록 실습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실습 1 환경 점검 · day3/Android.bp 일괄 등록 · 호스트 JDK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15분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Part 1 강의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Ch 1 libutils (RefBase·sp/wp·Thread·Looper) · Ch 2 JNI · Ch 3 Graphics · Ch 4 공유 메모리·Memory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115분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Part 2 실습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실습 2~12 (sp 4단계 → RefBase/wp → Thread → Looper → Binder 동작 → JNI → SurfaceFlinger → VSync → 공유 메모리 → 분석/LMKD)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315분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Part 3 데모 · 정리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실습 13 Perfetto 합성 파이프라인·Jank · Worksheet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35분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588C01EC-5517-4068-9E4A-709F488EA103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08EE227-3BB3-4775-B492-96D124280342}"/>
              </a:ext>
            </a:extLst>
          </p:cNvPr>
          <p:cNvSpPr>
            <a:spLocks noGrp="1"/>
          </p:cNvSpPr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오늘의 축: 실습 2~6 에서 만든 sp · Thread · Looper 가 실습 9~10 의 sp&lt;SurfaceControl&gt; · VSync Looper 로 그대로 재사용된다.</a:t>
            </a:r>
            <a:endParaRPr sz="140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21040" y="1737875"/>
            <a:ext cx="3383280" cy="274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543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605720-DDFA-4F6D-92B8-2716ABCDA5EA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CCE257-6E26-430C-8332-6B7C4A737DC2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Part 0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8EF395-727D-4C01-A961-A4A7FB68E154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Part 0 · 실습 1 — 환경 점검 · Android.bp 일괄 등록 · JDK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1D30432-106B-419E-94FD-D20AC09C4BA0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164A06F-4988-4E8D-BBF8-6A0878673B9C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3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8F7B195-EBBA-4B05-B4F7-479396785E3A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023F9DC-BB27-4582-ABFF-2258B9499EB0}"/>
              </a:ext>
            </a:extLst>
          </p:cNvPr>
          <p:cNvSpPr>
            <a:spLocks noGrp="1"/>
          </p:cNvSpPr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E66AA5-E8C0-4552-AB25-F80A3315BC75}"/>
              </a:ext>
            </a:extLst>
          </p:cNvPr>
          <p:cNvSpPr>
            <a:spLocks noGrp="1"/>
          </p:cNvSpPr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879559A-94A9-4DDF-8262-A97073C289FA}"/>
              </a:ext>
            </a:extLst>
          </p:cNvPr>
          <p:cNvSpPr>
            <a:spLocks noGrp="1"/>
          </p:cNvSpPr>
          <p:nvPr/>
        </p:nvSpPr>
        <p:spPr>
          <a:xfrm>
            <a:off x="1371600" y="184708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빌드 환경 · Emulator 확인</a:t>
            </a:r>
            <a:endParaRPr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CFD16A5-A32D-42B5-8C95-7F8555D89360}"/>
              </a:ext>
            </a:extLst>
          </p:cNvPr>
          <p:cNvSpPr>
            <a:spLocks noGrp="1"/>
          </p:cNvSpPr>
          <p:nvPr/>
        </p:nvSpPr>
        <p:spPr>
          <a:xfrm>
            <a:off x="1371600" y="221284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lunch · $OUT · getenforce · /dev/ashmem · memfd 심볼</a:t>
            </a:r>
            <a:endParaRPr sz="11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72DC776-6D80-48E1-B48E-6A43DC884C69}"/>
              </a:ext>
            </a:extLst>
          </p:cNvPr>
          <p:cNvSpPr>
            <a:spLocks noGrp="1"/>
          </p:cNvSpPr>
          <p:nvPr/>
        </p:nvSpPr>
        <p:spPr>
          <a:xfrm>
            <a:off x="457200" y="283464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A91F05A-C158-4A27-AAB2-A32951B814D4}"/>
              </a:ext>
            </a:extLst>
          </p:cNvPr>
          <p:cNvSpPr>
            <a:spLocks noGrp="1"/>
          </p:cNvSpPr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A95104A-6CF2-4454-A0FC-DED9615D50C9}"/>
              </a:ext>
            </a:extLst>
          </p:cNvPr>
          <p:cNvSpPr>
            <a:spLocks noGrp="1"/>
          </p:cNvSpPr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</a:t>
            </a:r>
            <a:endParaRPr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9204645-8955-41A8-8708-78A45C5B34A9}"/>
              </a:ext>
            </a:extLst>
          </p:cNvPr>
          <p:cNvSpPr>
            <a:spLocks noGrp="1"/>
          </p:cNvSpPr>
          <p:nvPr/>
        </p:nvSpPr>
        <p:spPr>
          <a:xfrm>
            <a:off x="1371600" y="294436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호스트 JDK</a:t>
            </a:r>
            <a:endParaRPr sz="15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5AF641B-E536-45D8-B7A6-F5F0E71672F2}"/>
              </a:ext>
            </a:extLst>
          </p:cNvPr>
          <p:cNvSpPr>
            <a:spLocks noGrp="1"/>
          </p:cNvSpPr>
          <p:nvPr/>
        </p:nvSpPr>
        <p:spPr>
          <a:xfrm>
            <a:off x="1371600" y="331012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sudo apt install default-jdk → javac -version (실습 7·8)</a:t>
            </a:r>
            <a:endParaRPr sz="11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D79A6B4-2578-4D03-8518-78B6CBE16260}"/>
              </a:ext>
            </a:extLst>
          </p:cNvPr>
          <p:cNvSpPr>
            <a:spLocks noGrp="1"/>
          </p:cNvSpPr>
          <p:nvPr/>
        </p:nvSpPr>
        <p:spPr>
          <a:xfrm>
            <a:off x="457200" y="393192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CF822EE-3720-47BC-BBB8-DD0D588DCA27}"/>
              </a:ext>
            </a:extLst>
          </p:cNvPr>
          <p:cNvSpPr>
            <a:spLocks noGrp="1"/>
          </p:cNvSpPr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28C0D8C-8A50-4DFB-BD7F-C67D453F3DBD}"/>
              </a:ext>
            </a:extLst>
          </p:cNvPr>
          <p:cNvSpPr>
            <a:spLocks noGrp="1"/>
          </p:cNvSpPr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3</a:t>
            </a:r>
            <a:endParaRPr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902559A-8096-4822-A1BC-1022C29E8200}"/>
              </a:ext>
            </a:extLst>
          </p:cNvPr>
          <p:cNvSpPr>
            <a:spLocks noGrp="1"/>
          </p:cNvSpPr>
          <p:nvPr/>
        </p:nvSpPr>
        <p:spPr>
          <a:xfrm>
            <a:off x="1371600" y="404164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day3/ 디렉토리 + 빈 소스 + Android.bp 한 파일</a:t>
            </a:r>
            <a:endParaRPr sz="15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B754011-192D-49B0-AA54-F19F5DFB1D51}"/>
              </a:ext>
            </a:extLst>
          </p:cNvPr>
          <p:cNvSpPr>
            <a:spLocks noGrp="1"/>
          </p:cNvSpPr>
          <p:nvPr/>
        </p:nvSpPr>
        <p:spPr>
          <a:xfrm>
            <a:off x="1371600" y="440740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sp_test · thread_test · looper_test · surface1 · vsync_anim · pipe · ashmem1/2 · memfd</a:t>
            </a:r>
            <a:endParaRPr sz="11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DB84F14-4BDF-47AB-8C26-BC54BAD7ED6C}"/>
              </a:ext>
            </a:extLst>
          </p:cNvPr>
          <p:cNvSpPr>
            <a:spLocks noGrp="1"/>
          </p:cNvSpPr>
          <p:nvPr/>
        </p:nvSpPr>
        <p:spPr>
          <a:xfrm>
            <a:off x="457200" y="502920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4165C63-CE17-4806-A00D-5B5FA4ED0C22}"/>
              </a:ext>
            </a:extLst>
          </p:cNvPr>
          <p:cNvSpPr>
            <a:spLocks noGrp="1"/>
          </p:cNvSpPr>
          <p:nvPr/>
        </p:nvSpPr>
        <p:spPr>
          <a:xfrm>
            <a:off x="640080" y="5212080"/>
            <a:ext cx="548640" cy="548640"/>
          </a:xfrm>
          <a:prstGeom prst="ellipse">
            <a:avLst/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2969F65-D82C-436A-9A53-664C8A8CD0FC}"/>
              </a:ext>
            </a:extLst>
          </p:cNvPr>
          <p:cNvSpPr>
            <a:spLocks noGrp="1"/>
          </p:cNvSpPr>
          <p:nvPr/>
        </p:nvSpPr>
        <p:spPr>
          <a:xfrm>
            <a:off x="640080" y="5212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4</a:t>
            </a:r>
            <a:endParaRPr sz="16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B0EA4AF-B5B7-4333-A316-64A746266B20}"/>
              </a:ext>
            </a:extLst>
          </p:cNvPr>
          <p:cNvSpPr>
            <a:spLocks noGrp="1"/>
          </p:cNvSpPr>
          <p:nvPr/>
        </p:nvSpPr>
        <p:spPr>
          <a:xfrm>
            <a:off x="1371600" y="513892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Soong 분석 1회</a:t>
            </a:r>
            <a:endParaRPr sz="15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00E0C1C-A678-4BE4-8A3C-19A4E7B3E928}"/>
              </a:ext>
            </a:extLst>
          </p:cNvPr>
          <p:cNvSpPr>
            <a:spLocks noGrp="1"/>
          </p:cNvSpPr>
          <p:nvPr/>
        </p:nvSpPr>
        <p:spPr>
          <a:xfrm>
            <a:off x="1371600" y="550468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 sp_test → analyzing Android.bp 통과 → 이후 .cpp 만 편집</a:t>
            </a:r>
            <a:endParaRPr sz="11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5231B27-2439-4E18-BD4A-D32883678510}"/>
              </a:ext>
            </a:extLst>
          </p:cNvPr>
          <p:cNvSpPr>
            <a:spLocks noGrp="1"/>
          </p:cNvSpPr>
          <p:nvPr/>
        </p:nvSpPr>
        <p:spPr>
          <a:xfrm>
            <a:off x="457200" y="6126480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소요 15분 · 빌드는 소스 디렉토리에서 m &lt;모듈명&gt; — .bp 는 오늘 이 한 번만</a:t>
            </a:r>
            <a:endParaRPr sz="1100"/>
          </a:p>
        </p:txBody>
      </p:sp>
      <p:pic>
        <p:nvPicPr>
          <p:cNvPr id="57" name="그림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30497" y="1737360"/>
            <a:ext cx="3472926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710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324B40-CFAA-49A6-BAA5-7D6057D2643F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06F37F-FFF4-4C2C-A089-437882FC62A6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Chapter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3011D9-BAFA-4A59-B7C9-69F2F4968365}"/>
              </a:ext>
            </a:extLst>
          </p:cNvPr>
          <p:cNvSpPr>
            <a:spLocks noGrp="1"/>
          </p:cNvSpPr>
          <p:nvPr/>
        </p:nvSpPr>
        <p:spPr>
          <a:xfrm>
            <a:off x="731520" y="251460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libutils — RefBase · sp/wp · Thread · Looper</a:t>
            </a:r>
            <a:endParaRPr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FFBA30F-09D4-4690-A9BE-8C459F4701FF}"/>
              </a:ext>
            </a:extLst>
          </p:cNvPr>
          <p:cNvSpPr>
            <a:spLocks noGrp="1"/>
          </p:cNvSpPr>
          <p:nvPr/>
        </p:nvSpPr>
        <p:spPr>
          <a:xfrm>
            <a:off x="731520" y="374904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40분 · 소유권(sp) · 실행 단위(Thread) · 이벤트 루프(Looper) — 프레임워크의 기본 골격 세 가지</a:t>
            </a:r>
            <a:endParaRPr sz="15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5835" y="1371600"/>
            <a:ext cx="43878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774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3C18DB-AEC4-4E6C-968D-A1782EF4D840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6B64A9-D052-483D-B49E-47A9E0A67EFA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844565-D0EA-4A15-A17E-7463B880F3A8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sp&lt;&gt; 를 직접 만들어 보면 — RefBase 에 도달한다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E5DD537-9066-457F-AD72-AE4D35C20B48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08CB3B-05D9-4D03-B5CF-695BEEECF537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5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5D5A121-A409-47F6-AA02-E827433EAD3D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44092A9-28AE-4C91-B93D-FB464FB41B53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① delete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B90C697-74B8-428A-929F-526576583B97}"/>
              </a:ext>
            </a:extLst>
          </p:cNvPr>
          <p:cNvSpPr>
            <a:spLocks noGrp="1"/>
          </p:cNvSpPr>
          <p:nvPr/>
        </p:nvSpPr>
        <p:spPr>
          <a:xfrm>
            <a:off x="457200" y="237744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sp 소멸자에서 delete</a:t>
            </a:r>
            <a:endParaRPr sz="1050"/>
          </a:p>
          <a:p>
            <a:pPr marL="0" indent="0" algn="ctr">
              <a:buNone/>
            </a:pPr>
            <a:r>
              <a:rPr sz="10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→ 복사하면 double free</a:t>
            </a:r>
            <a:endParaRPr sz="10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B91905F-6897-44F8-89CE-1AF746F6D9ED}"/>
              </a:ext>
            </a:extLst>
          </p:cNvPr>
          <p:cNvSpPr>
            <a:spLocks noGrp="1"/>
          </p:cNvSpPr>
          <p:nvPr/>
        </p:nvSpPr>
        <p:spPr>
          <a:xfrm>
            <a:off x="2532888" y="1920240"/>
            <a:ext cx="20116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F02E427-9DD7-47DA-A706-39720F8D24E4}"/>
              </a:ext>
            </a:extLst>
          </p:cNvPr>
          <p:cNvSpPr>
            <a:spLocks noGrp="1"/>
          </p:cNvSpPr>
          <p:nvPr/>
        </p:nvSpPr>
        <p:spPr>
          <a:xfrm>
            <a:off x="2743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DBBD9E7-17F3-43BA-B554-C2F1CB4969D3}"/>
              </a:ext>
            </a:extLst>
          </p:cNvPr>
          <p:cNvSpPr>
            <a:spLocks noGrp="1"/>
          </p:cNvSpPr>
          <p:nvPr/>
        </p:nvSpPr>
        <p:spPr>
          <a:xfrm>
            <a:off x="2743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② static 카운트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FBA4A7D-72A4-4EFB-8AE0-AC20CDF10E6E}"/>
              </a:ext>
            </a:extLst>
          </p:cNvPr>
          <p:cNvSpPr>
            <a:spLocks noGrp="1"/>
          </p:cNvSpPr>
          <p:nvPr/>
        </p:nvSpPr>
        <p:spPr>
          <a:xfrm>
            <a:off x="2743200" y="237744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sp&lt;T&gt;::mRefs 공유</a:t>
            </a:r>
            <a:endParaRPr sz="1050"/>
          </a:p>
          <a:p>
            <a:pPr marL="0" indent="0" algn="ctr">
              <a:buNone/>
            </a:pPr>
            <a:r>
              <a:rPr sz="10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→ 객체 2개면 누수</a:t>
            </a:r>
            <a:endParaRPr sz="10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694EF7B-B810-44F0-9F87-24F3B8BEDA68}"/>
              </a:ext>
            </a:extLst>
          </p:cNvPr>
          <p:cNvSpPr>
            <a:spLocks noGrp="1"/>
          </p:cNvSpPr>
          <p:nvPr/>
        </p:nvSpPr>
        <p:spPr>
          <a:xfrm>
            <a:off x="4818888" y="1920240"/>
            <a:ext cx="20116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379F66B-834E-4797-A4F3-6A6D486B001F}"/>
              </a:ext>
            </a:extLst>
          </p:cNvPr>
          <p:cNvSpPr>
            <a:spLocks noGrp="1"/>
          </p:cNvSpPr>
          <p:nvPr/>
        </p:nvSpPr>
        <p:spPr>
          <a:xfrm>
            <a:off x="5029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AC109EC-5EB9-4EF5-9C09-D26C07744DD3}"/>
              </a:ext>
            </a:extLst>
          </p:cNvPr>
          <p:cNvSpPr>
            <a:spLocks noGrp="1"/>
          </p:cNvSpPr>
          <p:nvPr/>
        </p:nvSpPr>
        <p:spPr>
          <a:xfrm>
            <a:off x="5029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③ 객체 안 카운트</a:t>
            </a:r>
            <a:endParaRPr sz="13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0EAD820-DA4D-4980-87D3-FE3A60A89D29}"/>
              </a:ext>
            </a:extLst>
          </p:cNvPr>
          <p:cNvSpPr>
            <a:spLocks noGrp="1"/>
          </p:cNvSpPr>
          <p:nvPr/>
        </p:nvSpPr>
        <p:spPr>
          <a:xfrm>
            <a:off x="5029200" y="237744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AAA 에 mRefs · incStrong</a:t>
            </a:r>
            <a:endParaRPr sz="1050"/>
          </a:p>
          <a:p>
            <a:pPr marL="0" indent="0" algn="ctr">
              <a:buNone/>
            </a:pPr>
            <a:r>
              <a:rPr sz="10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→ 클래스마다 반복</a:t>
            </a:r>
            <a:endParaRPr sz="10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9EBC188-0E53-4345-8F85-47FEABDFAC65}"/>
              </a:ext>
            </a:extLst>
          </p:cNvPr>
          <p:cNvSpPr>
            <a:spLocks noGrp="1"/>
          </p:cNvSpPr>
          <p:nvPr/>
        </p:nvSpPr>
        <p:spPr>
          <a:xfrm>
            <a:off x="7104888" y="1920240"/>
            <a:ext cx="20116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02426E1-9421-41E0-9F15-0C85DF2AACC2}"/>
              </a:ext>
            </a:extLst>
          </p:cNvPr>
          <p:cNvSpPr>
            <a:spLocks noGrp="1"/>
          </p:cNvSpPr>
          <p:nvPr/>
        </p:nvSpPr>
        <p:spPr>
          <a:xfrm>
            <a:off x="7315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7AC7B0D-21FE-45B7-85B6-F811A49F1B62}"/>
              </a:ext>
            </a:extLst>
          </p:cNvPr>
          <p:cNvSpPr>
            <a:spLocks noGrp="1"/>
          </p:cNvSpPr>
          <p:nvPr/>
        </p:nvSpPr>
        <p:spPr>
          <a:xfrm>
            <a:off x="7315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④ RefBase 분리</a:t>
            </a:r>
            <a:endParaRPr sz="13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3A74B15-723F-472C-9119-EA9F6B2ECDD6}"/>
              </a:ext>
            </a:extLst>
          </p:cNvPr>
          <p:cNvSpPr>
            <a:spLocks noGrp="1"/>
          </p:cNvSpPr>
          <p:nvPr/>
        </p:nvSpPr>
        <p:spPr>
          <a:xfrm>
            <a:off x="7315200" y="237744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공통 부모 · delete this</a:t>
            </a:r>
            <a:endParaRPr sz="1050"/>
          </a:p>
          <a:p>
            <a:pPr marL="0" indent="0" algn="ctr">
              <a:buNone/>
            </a:pPr>
            <a:r>
              <a:rPr sz="10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= Android 구조</a:t>
            </a:r>
            <a:endParaRPr sz="10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2A3BAF8-F64C-46C8-BE97-B1562F58A230}"/>
              </a:ext>
            </a:extLst>
          </p:cNvPr>
          <p:cNvSpPr>
            <a:spLocks noGrp="1"/>
          </p:cNvSpPr>
          <p:nvPr/>
        </p:nvSpPr>
        <p:spPr>
          <a:xfrm>
            <a:off x="457200" y="3200400"/>
            <a:ext cx="6766560" cy="2651760"/>
          </a:xfrm>
          <a:prstGeom prst="roundRect">
            <a:avLst>
              <a:gd name="adj" fmla="val 2759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1B393D6-E79D-4499-AB59-4911C3A3BF31}"/>
              </a:ext>
            </a:extLst>
          </p:cNvPr>
          <p:cNvSpPr>
            <a:spLocks noGrp="1"/>
          </p:cNvSpPr>
          <p:nvPr/>
        </p:nvSpPr>
        <p:spPr>
          <a:xfrm>
            <a:off x="566928" y="3273552"/>
            <a:ext cx="6547104" cy="250545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class RefBase {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int mRefs;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void incStrong() { mRefs++; 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void decStrong() { if (--mRefs == 0) delete this; }   // 객체가 스스로 사라진다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virtual ~RefBase();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};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template&lt;class T&gt; class sp {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sp(T* p) : mPtr(p) { mPtr-&gt;incStrong(); }   sp(const sp&amp; r) { mPtr-&gt;incStrong(); 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~sp() { mPtr-&gt;decStrong(); 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};</a:t>
            </a:r>
            <a:endParaRPr sz="11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E1EE3CA-A06C-459A-829B-E79B70564989}"/>
              </a:ext>
            </a:extLst>
          </p:cNvPr>
          <p:cNvSpPr>
            <a:spLocks noGrp="1"/>
          </p:cNvSpPr>
          <p:nvPr/>
        </p:nvSpPr>
        <p:spPr>
          <a:xfrm>
            <a:off x="7498080" y="4754880"/>
            <a:ext cx="4206240" cy="1097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intrusive: 카운트가 객체 안에 → raw 를 다시 sp 로 감싸도 안전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new 직후 sp 에 담고, delete 는 절대 쓰지 않는다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2 sp&lt;IBinder&gt; · 오늘 sp&lt;SurfaceControl&gt;·sp&lt;Thread&gt;·sp&lt;Looper&gt;</a:t>
            </a:r>
            <a:endParaRPr sz="105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8C03246-6D4A-49C1-99FF-8C829844C23D}"/>
              </a:ext>
            </a:extLst>
          </p:cNvPr>
          <p:cNvSpPr>
            <a:spLocks noGrp="1"/>
          </p:cNvSpPr>
          <p:nvPr/>
        </p:nvSpPr>
        <p:spPr>
          <a:xfrm>
            <a:off x="7498080" y="5897880"/>
            <a:ext cx="420624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BB72685-7081-47A4-AAD3-85B68524F06F}"/>
              </a:ext>
            </a:extLst>
          </p:cNvPr>
          <p:cNvSpPr>
            <a:spLocks noGrp="1"/>
          </p:cNvSpPr>
          <p:nvPr/>
        </p:nvSpPr>
        <p:spPr>
          <a:xfrm>
            <a:off x="7498080" y="589788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1 · sp 와 RefBase</a:t>
            </a:r>
            <a:endParaRPr sz="1150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8675" y="3200400"/>
            <a:ext cx="4205050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76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4C07E9-A81F-4BC1-A99D-2F6DEF10C099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FC8A91-4C59-408B-B730-FFFDB8A1BDBA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C78F59-E4AF-45F7-AA10-5CC10B8F6987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wp&lt;&gt; · promote() · 순환 참조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5FB153-BAE5-46AA-BD22-8815CA8CFF61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7206A4-DF36-4AC9-A04F-78CB246A97DF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6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51862C6-E816-4602-9D03-A6E186133290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6035040" cy="3017520"/>
          </a:xfrm>
          <a:prstGeom prst="roundRect">
            <a:avLst>
              <a:gd name="adj" fmla="val 2424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C41BFD7-BAD6-4EEF-B20E-D0A7F9D878FD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5815584" cy="287121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sp&lt;AAA&gt; owner = new AAA();     // mStrong 1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wp&lt;AAA&gt; p = owner;             // 약한 참조 — 카운트 무관, -&gt; 없음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sp&lt;AAA&gt; q = p.promote();       // 살아 있으면 sp (mStrong 2)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owner.clear(); q.clear();      // mStrong 0 → 소멸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sp&lt;AAA&gt; r = p.promote();       // ★ nullptr — 반드시 검사</a:t>
            </a:r>
            <a:endParaRPr sz="1100"/>
          </a:p>
          <a:p>
            <a:pPr marL="0" indent="0">
              <a:buNone/>
            </a:pP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순환 참조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class AAA : RefBase { sp&lt;BBB&gt; pb; };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class BBB : RefBase { sp&lt;AAA&gt; pa; };   // ★ 서로 잡음 → 영원히 안 죽음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class BBB : RefBase { wp&lt;AAA&gt; pa; };   // 한쪽을 wp 로 → 해결</a:t>
            </a:r>
            <a:endParaRPr sz="1100"/>
          </a:p>
        </p:txBody>
      </p:sp>
      <p:graphicFrame>
        <p:nvGraphicFramePr>
          <p:cNvPr id="24" name="Table 0"/>
          <p:cNvGraphicFramePr/>
          <p:nvPr/>
        </p:nvGraphicFramePr>
        <p:xfrm>
          <a:off x="457200" y="4937760"/>
          <a:ext cx="6035040" cy="7543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카운트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올리는 것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0 이 되면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mStrong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sp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객체 소멸 (delete this)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mWeak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sp + wp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weakref_impl (카운트 블록) 소멸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9">
            <a:extLst>
              <a:ext uri="{FF2B5EF4-FFF2-40B4-BE49-F238E27FC236}">
                <a16:creationId xmlns:a16="http://schemas.microsoft.com/office/drawing/2014/main" id="{BEC0D02B-2BC1-4CF9-A970-E27050507F78}"/>
              </a:ext>
            </a:extLst>
          </p:cNvPr>
          <p:cNvSpPr>
            <a:spLocks noGrp="1"/>
          </p:cNvSpPr>
          <p:nvPr/>
        </p:nvSpPr>
        <p:spPr>
          <a:xfrm>
            <a:off x="6766560" y="4114800"/>
            <a:ext cx="4937760" cy="15544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wp 는 객체가 죽은 뒤에도 안전하게 "죽었다" 를 안다 — mWeak 가 블록을 유지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Listener · Callback · 부모↔자식 은 한쪽을 wp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onFirstRef(): mStrong 0→1 순간 1회 — Thread::run 의 트리거 (다음 슬라이드)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3: promote 실패 · 순환 누수 · wp 로 해결 3가지 확인</a:t>
            </a:r>
            <a:endParaRPr sz="10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F5E0F38-A738-4B5F-A0E8-9534E9BDEF35}"/>
              </a:ext>
            </a:extLst>
          </p:cNvPr>
          <p:cNvSpPr>
            <a:spLocks noGrp="1"/>
          </p:cNvSpPr>
          <p:nvPr/>
        </p:nvSpPr>
        <p:spPr>
          <a:xfrm>
            <a:off x="6766560" y="5760720"/>
            <a:ext cx="493776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F537C15-2166-4273-BBF0-EC2293298389}"/>
              </a:ext>
            </a:extLst>
          </p:cNvPr>
          <p:cNvSpPr>
            <a:spLocks noGrp="1"/>
          </p:cNvSpPr>
          <p:nvPr/>
        </p:nvSpPr>
        <p:spPr>
          <a:xfrm>
            <a:off x="6766560" y="5760720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2 · wp · promote · 순환 참조</a:t>
            </a:r>
            <a:endParaRPr sz="115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66560" y="1737536"/>
            <a:ext cx="4937760" cy="219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77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36D25F-2B5E-4D9F-9250-F5A9699A0AA9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07B821-6DB9-4623-9B4C-8D2988132C0C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C4416C-701E-4BD6-8B46-19E5864EF24F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Thread 단계별 — pthread 에서 android::Thread 까지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FA389B-CD96-43B9-A319-19F5256E2F48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FCFFF05-DA44-4977-BE40-5F25449523D7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7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555EB5D-AB7E-46C7-B2CD-14891DAC9B7F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600F388-2F38-4E7C-ADDC-EC95801D8105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① pthread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37D9ED5-0551-4116-8A90-11EEFC6653C2}"/>
              </a:ext>
            </a:extLst>
          </p:cNvPr>
          <p:cNvSpPr>
            <a:spLocks noGrp="1"/>
          </p:cNvSpPr>
          <p:nvPr/>
        </p:nvSpPr>
        <p:spPr>
          <a:xfrm>
            <a:off x="457200" y="237744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전역 foo → 멤버 접근 불가</a:t>
            </a:r>
            <a:endParaRPr sz="10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6A26536-B1D2-4515-A27C-505773A2DE47}"/>
              </a:ext>
            </a:extLst>
          </p:cNvPr>
          <p:cNvSpPr>
            <a:spLocks noGrp="1"/>
          </p:cNvSpPr>
          <p:nvPr/>
        </p:nvSpPr>
        <p:spPr>
          <a:xfrm>
            <a:off x="2532888" y="1920240"/>
            <a:ext cx="20116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DF47597-0908-4358-AADD-96271166A3CE}"/>
              </a:ext>
            </a:extLst>
          </p:cNvPr>
          <p:cNvSpPr>
            <a:spLocks noGrp="1"/>
          </p:cNvSpPr>
          <p:nvPr/>
        </p:nvSpPr>
        <p:spPr>
          <a:xfrm>
            <a:off x="2743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C0E2E13-0BCF-4EE1-94DA-BACC1E939099}"/>
              </a:ext>
            </a:extLst>
          </p:cNvPr>
          <p:cNvSpPr>
            <a:spLocks noGrp="1"/>
          </p:cNvSpPr>
          <p:nvPr/>
        </p:nvSpPr>
        <p:spPr>
          <a:xfrm>
            <a:off x="2743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② static + this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2937D33-5725-45C4-BCA9-0300BFCF5848}"/>
              </a:ext>
            </a:extLst>
          </p:cNvPr>
          <p:cNvSpPr>
            <a:spLocks noGrp="1"/>
          </p:cNvSpPr>
          <p:nvPr/>
        </p:nvSpPr>
        <p:spPr>
          <a:xfrm>
            <a:off x="2743200" y="237744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__handler(void*) 로 복원</a:t>
            </a:r>
            <a:endParaRPr sz="10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33355C0-8E71-453D-B547-CF9C16B31A57}"/>
              </a:ext>
            </a:extLst>
          </p:cNvPr>
          <p:cNvSpPr>
            <a:spLocks noGrp="1"/>
          </p:cNvSpPr>
          <p:nvPr/>
        </p:nvSpPr>
        <p:spPr>
          <a:xfrm>
            <a:off x="4818888" y="1920240"/>
            <a:ext cx="20116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E724B71-771B-4547-9A52-1BD551C65B48}"/>
              </a:ext>
            </a:extLst>
          </p:cNvPr>
          <p:cNvSpPr>
            <a:spLocks noGrp="1"/>
          </p:cNvSpPr>
          <p:nvPr/>
        </p:nvSpPr>
        <p:spPr>
          <a:xfrm>
            <a:off x="5029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1EB6F1D-765E-44C2-B464-79BB90273D60}"/>
              </a:ext>
            </a:extLst>
          </p:cNvPr>
          <p:cNvSpPr>
            <a:spLocks noGrp="1"/>
          </p:cNvSpPr>
          <p:nvPr/>
        </p:nvSpPr>
        <p:spPr>
          <a:xfrm>
            <a:off x="5029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③ virtual handler</a:t>
            </a:r>
            <a:endParaRPr sz="13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334DC72-24C7-46D8-BF60-6CDCD2894F8C}"/>
              </a:ext>
            </a:extLst>
          </p:cNvPr>
          <p:cNvSpPr>
            <a:spLocks noGrp="1"/>
          </p:cNvSpPr>
          <p:nvPr/>
        </p:nvSpPr>
        <p:spPr>
          <a:xfrm>
            <a:off x="5029200" y="237744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골격은 부모, 내용은 자식</a:t>
            </a:r>
            <a:endParaRPr sz="10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8B39C10-2514-418F-9C3C-12D832990158}"/>
              </a:ext>
            </a:extLst>
          </p:cNvPr>
          <p:cNvSpPr>
            <a:spLocks noGrp="1"/>
          </p:cNvSpPr>
          <p:nvPr/>
        </p:nvSpPr>
        <p:spPr>
          <a:xfrm>
            <a:off x="7104888" y="1920240"/>
            <a:ext cx="20116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3C918DA-65B0-4251-823A-EFBA59141CAC}"/>
              </a:ext>
            </a:extLst>
          </p:cNvPr>
          <p:cNvSpPr>
            <a:spLocks noGrp="1"/>
          </p:cNvSpPr>
          <p:nvPr/>
        </p:nvSpPr>
        <p:spPr>
          <a:xfrm>
            <a:off x="7315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842DB3F-3BF9-4BBE-B400-3AB9EE872E66}"/>
              </a:ext>
            </a:extLst>
          </p:cNvPr>
          <p:cNvSpPr>
            <a:spLocks noGrp="1"/>
          </p:cNvSpPr>
          <p:nvPr/>
        </p:nvSpPr>
        <p:spPr>
          <a:xfrm>
            <a:off x="7315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④ android::Thread</a:t>
            </a:r>
            <a:endParaRPr sz="13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04041CF-6238-4578-BD96-8BF350CE0C73}"/>
              </a:ext>
            </a:extLst>
          </p:cNvPr>
          <p:cNvSpPr>
            <a:spLocks noGrp="1"/>
          </p:cNvSpPr>
          <p:nvPr/>
        </p:nvSpPr>
        <p:spPr>
          <a:xfrm>
            <a:off x="7315200" y="237744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run · readyToRun · threadLoop</a:t>
            </a:r>
            <a:endParaRPr sz="10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20EFD9E-86EC-4147-8C9F-A6DAC9B01D86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6400800" cy="2651760"/>
          </a:xfrm>
          <a:prstGeom prst="roundRect">
            <a:avLst>
              <a:gd name="adj" fmla="val 2759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61C094E-4355-4754-AA1A-DD1296BE4A71}"/>
              </a:ext>
            </a:extLst>
          </p:cNvPr>
          <p:cNvSpPr>
            <a:spLocks noGrp="1"/>
          </p:cNvSpPr>
          <p:nvPr/>
        </p:nvSpPr>
        <p:spPr>
          <a:xfrm>
            <a:off x="566928" y="3090672"/>
            <a:ext cx="6181344" cy="250545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class MyThread : public Thread {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void onFirstRef() override { run("my_thread"); }     // sp 에 담기는 순간 시작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status_t readyToRun() override { return NO_ERROR; }  // 1회 초기화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bool threadLoop() override {                          // true → 반복, false → 종료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    sleep(1); return ++n &lt; 3;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};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sp&lt;Thread&gt; p = new MyThread;   // ← 여기서 onFirstRef → run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p-&gt;join();                     // threadLoop 이 false 를 반환할 때까지</a:t>
            </a:r>
            <a:endParaRPr sz="11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A729436-62A0-4D0E-9AEE-6DFC7CA8DDEB}"/>
              </a:ext>
            </a:extLst>
          </p:cNvPr>
          <p:cNvSpPr>
            <a:spLocks noGrp="1"/>
          </p:cNvSpPr>
          <p:nvPr/>
        </p:nvSpPr>
        <p:spPr>
          <a:xfrm>
            <a:off x="7132320" y="4480560"/>
            <a:ext cx="4572000" cy="128016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static 트램폴린 + this: Looper 콜백·JNI·PoolThread 에 반복되는 관용구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Thread : RefBase — run() 이 자기 자신을 sp 로 잡음(mHoldSelf) → main 이 sp 를 버려도 끝까지 돈다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requestExit() 는 플래그만 — 루프에서 exitPending() 확인해 false 반환</a:t>
            </a:r>
            <a:endParaRPr sz="105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D93A49E-BD51-4B1E-9BC3-619298A899BC}"/>
              </a:ext>
            </a:extLst>
          </p:cNvPr>
          <p:cNvSpPr>
            <a:spLocks noGrp="1"/>
          </p:cNvSpPr>
          <p:nvPr/>
        </p:nvSpPr>
        <p:spPr>
          <a:xfrm>
            <a:off x="7132320" y="5852160"/>
            <a:ext cx="457200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71AAB5D-EFBB-47D7-8019-515FF8725C96}"/>
              </a:ext>
            </a:extLst>
          </p:cNvPr>
          <p:cNvSpPr>
            <a:spLocks noGrp="1"/>
          </p:cNvSpPr>
          <p:nvPr/>
        </p:nvSpPr>
        <p:spPr>
          <a:xfrm>
            <a:off x="7132320" y="585216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3 · Thread 단계별</a:t>
            </a:r>
            <a:endParaRPr sz="1150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32320" y="3017520"/>
            <a:ext cx="4572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81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3EAA04-210B-48A1-8707-04C76EB8D5AC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9F2A20-6C95-484F-8571-9125E3135320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354399-ED1A-4ACF-9BB3-1DD89716AF38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Looper 의 두 얼굴 — fd 이벤트 루프 + 메시지 큐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60D7F10-BDF7-4B45-8BFD-B0653D7B1615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067EC8-8AFB-4A56-8759-DF2AD20659B7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8</a:t>
            </a:r>
            <a:endParaRPr sz="900"/>
          </a:p>
        </p:txBody>
      </p:sp>
      <p:graphicFrame>
        <p:nvGraphicFramePr>
          <p:cNvPr id="26" name="Table 0"/>
          <p:cNvGraphicFramePr/>
          <p:nvPr/>
        </p:nvGraphicFramePr>
        <p:xfrm>
          <a:off x="457200" y="1737360"/>
          <a:ext cx="6949440" cy="176784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단계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Looper API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실체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pollOnce 반환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①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pollOnce(1000)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epoll_wait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POLL_TIMEOUT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②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다른 Thread 의 wake()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write(eventfd)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POLL_WAKE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③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addFd(fd, 0, EVENT_INPUT, foo, data)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epoll_ctl(ADD) → callback(fd, events, data)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POLL_CALLBACK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④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콜백을 클래스로 (static + this)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= LooperCallback::handleEvent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POLL_CALLBACK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⑤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sendMessage[Delayed](handler, Message)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큐에 넣고 wake → handleMessage(what)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(메시지 처리)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C0BB8F3E-86D3-4C62-8AC9-870B92ABB72A}"/>
              </a:ext>
            </a:extLst>
          </p:cNvPr>
          <p:cNvSpPr>
            <a:spLocks noGrp="1"/>
          </p:cNvSpPr>
          <p:nvPr/>
        </p:nvSpPr>
        <p:spPr>
          <a:xfrm>
            <a:off x="457200" y="420624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CABD783-06F7-4026-9634-DDDD7B4581D9}"/>
              </a:ext>
            </a:extLst>
          </p:cNvPr>
          <p:cNvSpPr>
            <a:spLocks noGrp="1"/>
          </p:cNvSpPr>
          <p:nvPr/>
        </p:nvSpPr>
        <p:spPr>
          <a:xfrm>
            <a:off x="640080" y="42976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fd 이벤트 루프 (③④)</a:t>
            </a:r>
            <a:endParaRPr sz="13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AD5F8DC-B986-4455-A7F0-3CAD8E677A80}"/>
              </a:ext>
            </a:extLst>
          </p:cNvPr>
          <p:cNvSpPr>
            <a:spLocks noGrp="1"/>
          </p:cNvSpPr>
          <p:nvPr/>
        </p:nvSpPr>
        <p:spPr>
          <a:xfrm>
            <a:off x="640080" y="4663440"/>
            <a:ext cx="3017520" cy="1097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VSync fd (실습 10)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Input · Socket · pipe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callback 은 Looper Thread 에서</a:t>
            </a:r>
            <a:endParaRPr sz="10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6F1A953-541C-49E0-8485-CA56D0531DAA}"/>
              </a:ext>
            </a:extLst>
          </p:cNvPr>
          <p:cNvSpPr>
            <a:spLocks noGrp="1"/>
          </p:cNvSpPr>
          <p:nvPr/>
        </p:nvSpPr>
        <p:spPr>
          <a:xfrm>
            <a:off x="4023360" y="420624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EFE9FB"/>
          </a:solidFill>
          <a:ln w="12700">
            <a:solidFill>
              <a:srgbClr val="EFE9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9AF0EC1-6417-4E9F-B053-85BBEA91FD44}"/>
              </a:ext>
            </a:extLst>
          </p:cNvPr>
          <p:cNvSpPr>
            <a:spLocks noGrp="1"/>
          </p:cNvSpPr>
          <p:nvPr/>
        </p:nvSpPr>
        <p:spPr>
          <a:xfrm>
            <a:off x="4206240" y="42976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6D4FC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메시지 큐 (⑤)</a:t>
            </a:r>
            <a:endParaRPr sz="13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F68178C-F7F5-424B-8937-AD0558FBEDD3}"/>
              </a:ext>
            </a:extLst>
          </p:cNvPr>
          <p:cNvSpPr>
            <a:spLocks noGrp="1"/>
          </p:cNvSpPr>
          <p:nvPr/>
        </p:nvSpPr>
        <p:spPr>
          <a:xfrm>
            <a:off x="4206240" y="4663440"/>
            <a:ext cx="3017520" cy="1097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uptime 순 정렬, 만기 시 handleMessage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Java Handler.sendMessageDelayed 의 실체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한 Looper 에 두 기능</a:t>
            </a:r>
            <a:endParaRPr sz="10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649B66F-0BFF-407A-B595-D5DD56A57E55}"/>
              </a:ext>
            </a:extLst>
          </p:cNvPr>
          <p:cNvSpPr>
            <a:spLocks noGrp="1"/>
          </p:cNvSpPr>
          <p:nvPr/>
        </p:nvSpPr>
        <p:spPr>
          <a:xfrm>
            <a:off x="7680960" y="4206240"/>
            <a:ext cx="4023360" cy="100584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Java Looper/Handler/MessageQueue = 이 C++ Looper 의 JNI wrapper (nativePollOnce)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5 ⑤ 는 Message.what 으로 분기 — Day 1 Messenger 와 같은 모양</a:t>
            </a:r>
            <a:endParaRPr sz="10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66BFA0B-1B50-4265-B812-B1991F1F5E4A}"/>
              </a:ext>
            </a:extLst>
          </p:cNvPr>
          <p:cNvSpPr>
            <a:spLocks noGrp="1"/>
          </p:cNvSpPr>
          <p:nvPr/>
        </p:nvSpPr>
        <p:spPr>
          <a:xfrm>
            <a:off x="7680960" y="530352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999CEB2-657A-498D-90E1-2E44F2891D66}"/>
              </a:ext>
            </a:extLst>
          </p:cNvPr>
          <p:cNvSpPr>
            <a:spLocks noGrp="1"/>
          </p:cNvSpPr>
          <p:nvPr/>
        </p:nvSpPr>
        <p:spPr>
          <a:xfrm>
            <a:off x="7680960" y="530352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4 · Looper 의 두 얼굴</a:t>
            </a:r>
            <a:endParaRPr sz="1150"/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681815" y="1737360"/>
            <a:ext cx="4021651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28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D230DF-AE9B-4317-90A4-4CB25271BFFF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F856F3-44FF-4984-908D-FF7B41A878E4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4198D1-4907-4195-AE1C-48E66F44C529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 Thread 와 Looper Thread — 두 개의 대기 루프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FE0FD75-0800-4FBB-AF6D-07CCA0AB8DEC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7E70AE-1CB0-4C9A-A770-C9C0480AE7E7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9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DD0BD02-3B39-4B6C-8394-CF5B7DEEBC50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6766560" cy="2743200"/>
          </a:xfrm>
          <a:prstGeom prst="roundRect">
            <a:avLst>
              <a:gd name="adj" fmla="val 2667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D38FD0E-6D38-452A-8893-A55B949D4CC0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6547104" cy="259689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ProcessState.cpp — Day 2 의 Binder Thread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class PoolThread : public Thread {                     // ← 실습 4 ④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bool threadLoop() override {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    IPCThreadState::self()-&gt;joinThreadPool(mIsMain);   // Driver 대기 루프, 반환 안 함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    return false;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};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Java 콜백 → Main Thread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runOnUiThread(r)  ==  new Handler(Looper.getMainLooper()).post(r)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→ enqueueMessage → nativeWake → C++ Looper::wake()      // ← 실습 5 ②</a:t>
            </a:r>
            <a:endParaRPr sz="1100"/>
          </a:p>
        </p:txBody>
      </p:sp>
      <p:graphicFrame>
        <p:nvGraphicFramePr>
          <p:cNvPr id="24" name="Table 0"/>
          <p:cNvGraphicFramePr/>
          <p:nvPr/>
        </p:nvGraphicFramePr>
        <p:xfrm>
          <a:off x="457200" y="4663440"/>
          <a:ext cx="6766560" cy="12192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Binder Thread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Main (Looper) Thread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루프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joinThreadPool → ioctl 블로킹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Looper::pollOnce → epoll_wait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깨우는 것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다른 Process 의 transact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fd 이벤트 · wake · 메시지 만기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실행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BBinder::onTransact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handleEvent · handleMessage · UI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Looper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없다 → UI 접근 불가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있다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>
            <a:extLst>
              <a:ext uri="{FF2B5EF4-FFF2-40B4-BE49-F238E27FC236}">
                <a16:creationId xmlns:a16="http://schemas.microsoft.com/office/drawing/2014/main" id="{ED1FBA76-F4EB-4CD0-8FFC-C44B3B4E3D75}"/>
              </a:ext>
            </a:extLst>
          </p:cNvPr>
          <p:cNvSpPr>
            <a:spLocks noGrp="1"/>
          </p:cNvSpPr>
          <p:nvPr/>
        </p:nvSpPr>
        <p:spPr>
          <a:xfrm>
            <a:off x="7498080" y="4114800"/>
            <a:ext cx="4206240" cy="11887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1 실습 9 의 runOnUiThread = Looper 큐에 넣기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6: PoolThread · joinThreadPool · nativePollOnce 를 소스로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startThreadPool 유무 → tid 분산/동일 (Day 2 서버 재사용)</a:t>
            </a:r>
            <a:endParaRPr sz="10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92A2281-8DCA-4DC1-9825-FA0F1C3BB666}"/>
              </a:ext>
            </a:extLst>
          </p:cNvPr>
          <p:cNvSpPr>
            <a:spLocks noGrp="1"/>
          </p:cNvSpPr>
          <p:nvPr/>
        </p:nvSpPr>
        <p:spPr>
          <a:xfrm>
            <a:off x="7498080" y="5394960"/>
            <a:ext cx="420624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95301DF-7F96-4F8B-B2F2-0AC3E69D2D2E}"/>
              </a:ext>
            </a:extLst>
          </p:cNvPr>
          <p:cNvSpPr>
            <a:spLocks noGrp="1"/>
          </p:cNvSpPr>
          <p:nvPr/>
        </p:nvSpPr>
        <p:spPr>
          <a:xfrm>
            <a:off x="7498080" y="539496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5 · Binder Thread vs Looper Thread</a:t>
            </a:r>
            <a:endParaRPr sz="115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8080" y="1737843"/>
            <a:ext cx="4206240" cy="219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86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299F9B-5C57-4E82-8F8D-0CECC4E5DECC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685FA8-59A1-4210-8513-728E2BDE4567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2·3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8FCA54-3593-4E0C-A352-3AF4CED6E3FC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sp 4단계 직접 구현 → Android RefBase · wp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A0FEFB-4574-41E6-9F5B-1EFFEEEF9C41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D1A02F-FF79-4012-B0BA-8C0A27FEB121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10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1F0BC20-471C-4F55-8756-263D396286D8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9C2D9A-B11A-430C-B685-30309A006B9A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자작 sp 로 RefBase 구조에 도달 (실습 2) → utils/RefBase.h 로 wp · promote · 순환 참조 (실습 3)     ·     소요 25 + 20분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C7EF3A6-D354-4FB6-BBD2-DD2578C69000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0989FCD-7641-4990-AC5C-8CBD760F55F1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2: sp_test/sp.cpp — #if 로 ① delete → ② static → ③ 객체 내 카운트 → ④ RefBase 전환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2: ① 복사 crash · ② 객체 2개 누수 · ④ ~RefBase 가 virtual 아니면? 실험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3: my_sp.cpp — Android sp / wp 만 → 즉시 소멸 / promote 성공·실패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3: A↔B sp 순환 → 소멸자 없음 → 한쪽 wp 로 해결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 sp_test my_sp_test → adb push → 실행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C470427-833F-4795-BDEB-2261E88A85BC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1393FF0-156E-4063-9CAE-773EB30D22E7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B256BB2-FA9F-4578-931A-80286B1D53C7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② static: 소멸자 1번만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④: 소멸자 정확히 1번 + after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③ promote → nullptr, ④ 순환 누수, ⑤ 해결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2 sp&lt;IBinder&gt; 가 delete 없이 사라지는 이유 설명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EC22928-9FB1-4824-A1C3-CBC73BF0509E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0E9440E-8849-4E1F-A5D9-2284FB331496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1 · sp 와 RefBase</a:t>
            </a:r>
            <a:endParaRPr sz="11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27B848D-55C4-4FF2-B4B1-DB24E002780C}"/>
              </a:ext>
            </a:extLst>
          </p:cNvPr>
          <p:cNvSpPr>
            <a:spLocks noGrp="1"/>
          </p:cNvSpPr>
          <p:nvPr/>
        </p:nvSpPr>
        <p:spPr>
          <a:xfrm>
            <a:off x="6858000" y="6099048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E81B2DF-8551-4E5A-B5C8-68B24E5A6F37}"/>
              </a:ext>
            </a:extLst>
          </p:cNvPr>
          <p:cNvSpPr>
            <a:spLocks noGrp="1"/>
          </p:cNvSpPr>
          <p:nvPr/>
        </p:nvSpPr>
        <p:spPr>
          <a:xfrm>
            <a:off x="6858000" y="6099048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4"/>
              </a:rPr>
              <a:t>▶  애니메이션 2 · wp · 순환 참조</a:t>
            </a:r>
            <a:endParaRPr sz="115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87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24F7CC-8918-48DF-9C4E-26F700B7A668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F6AFF5-2ADF-4259-B88E-62AF3D7D31A4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4·5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AE85B5-07C6-4B4C-B03C-FE20A8A4AA95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Thread 단계별 → Looper 단계별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337DEF-A82D-4A48-A11F-F32E3FBD982F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C94945-0E71-4019-A52E-582D154F1286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11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0A746B2-793B-47B8-8A18-DB8521287E53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0A4947B-0BE2-4F95-881B-FAE5F731E720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pthread → android::Thread (실습 4) → pollOnce → wake → addFd → LooperCallback → MessageHandler (실습 5)     ·     소요 30 + 40분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693E6A0-26AA-47EE-9B4D-7755FE0163E9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2AA5460-948C-4BC0-BFF8-9D4682F30BD2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4: thread.cpp — ① pthread → ② static __handler + this → ③ virtual handler → ④ android::Thread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4: my_thread.cpp — onFirstRef/readyToRun/threadLoop/join 로그 · sp 를 버려도 도는 실험(mHoldSelf)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5: Looper.cpp — ① pollOnce(1000) → ② wake → ③ addFd + pipe → ④ 콜백 클래스 → ⑤ sendMessage[Delayed]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5: strace -e epoll_wait,epoll_ctl,eventfd2 로 시스템 콜 확인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 thread_test my_thread_test looper_test → push → 실행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4B83D76-3A92-4C72-ACA2-76756145E373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EA43475-1117-4CD4-8C27-F5A33759791B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BA36AB-6821-4E7C-B32D-1E63FFC6AC6A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④ sp&lt;Thread&gt; p = new MyThread; 만으로 시작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readyToRun 1회 → threadLoop 3회 → join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① TIMEOUT ② WAKE ③ CALLBACK + data 0x1234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⑤ 1,2 즉시 · 3 은 3초 후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579EBC4-99F6-421A-A25C-C84452FB6FE2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73D186C-3DE9-4E8C-A120-E065B1CA5FB9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3 · Thread 단계별</a:t>
            </a:r>
            <a:endParaRPr sz="11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4918C99-C19D-4CEF-941D-7BE97B73EA45}"/>
              </a:ext>
            </a:extLst>
          </p:cNvPr>
          <p:cNvSpPr>
            <a:spLocks noGrp="1"/>
          </p:cNvSpPr>
          <p:nvPr/>
        </p:nvSpPr>
        <p:spPr>
          <a:xfrm>
            <a:off x="6858000" y="6099048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B83A65E-8337-4E3A-94E0-FBE5CDDD7535}"/>
              </a:ext>
            </a:extLst>
          </p:cNvPr>
          <p:cNvSpPr>
            <a:spLocks noGrp="1"/>
          </p:cNvSpPr>
          <p:nvPr/>
        </p:nvSpPr>
        <p:spPr>
          <a:xfrm>
            <a:off x="6858000" y="6099048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4"/>
              </a:rPr>
              <a:t>▶  애니메이션 4 · Looper 의 두 얼굴</a:t>
            </a:r>
            <a:endParaRPr sz="115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028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779952-6BCE-4112-A516-B85BF71E1B2F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2BB49F-E4CF-4A4E-9A2E-A1B10EEF56E3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6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64605B-EEEA-42D2-93E5-88735ED9C37B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 에서의 동작 — PoolThread · joinThreadPool · Handler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D2DC9A-9612-4303-A23B-9EFC3D87D935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DF36D5-6A5A-41BC-A2A4-02AC56391D7E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12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928A78F-8B62-4A11-BB6C-2792E790A367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728DD63-30BF-4EDF-AB30-63F0F3A5EF1A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Day 2 Binder Thread 가 android::Thread 임을 소스로, Binder 콜백이 Looper 큐로 Main Thread 에 가는 경로 확인     ·     소요 20분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B56BDB9-65AB-4040-89F3-D20235544BCD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AF42539-C14B-4F3D-925F-E8BC65E7584B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:tag ProcessState::spawnPooledThread → PoolThread : Thread → threadLoop { joinThreadPool }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:tag IPCThreadState::joinThreadPool → talkWithDriver 루프 vs Looper::pollOnce 비교표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Emulator: my_server_test_4 → ps -T (binder:PID_N) · binder_logs thread 수 · 동시 3 client tid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startThreadPool 주석 처리 → 재빌드 → tid 동일·순차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:tag android_os_MessageQueue_nativePollOnce / NativeMessageQueue::wake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DF08203-4DF0-4F17-AB43-8C1BCD343A82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C3B0040-974F-4769-BEC0-7A099BD8D98A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345BEB0-D356-423A-AC71-3C25731BA9F1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PoolThread 가 Thread 상속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ps -T 에 binder:PID_N 이름 = Thread::run(name)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startThreadPool 유무로 tid 비교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nativePollOnce → Looper::pollOnce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D49F90A-202D-48EB-8A8D-AC470F13413A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726FE29-4082-4701-A53B-A776046399F8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5 · Binder Thread vs Looper</a:t>
            </a:r>
            <a:endParaRPr sz="115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9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758DD3-E08D-4BC1-81EB-F8FED23CB182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E5CB82-E234-4F6E-8D5C-59062211A2A9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Chapter 2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900EA0-9E1B-4935-95A4-6288F7FFEB9E}"/>
              </a:ext>
            </a:extLst>
          </p:cNvPr>
          <p:cNvSpPr>
            <a:spLocks noGrp="1"/>
          </p:cNvSpPr>
          <p:nvPr/>
        </p:nvSpPr>
        <p:spPr>
          <a:xfrm>
            <a:off x="731520" y="251460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JNI — Java ↔ Native 경계</a:t>
            </a:r>
            <a:endParaRPr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99833C-B457-4A22-9915-D84070988D67}"/>
              </a:ext>
            </a:extLst>
          </p:cNvPr>
          <p:cNvSpPr>
            <a:spLocks noGrp="1"/>
          </p:cNvSpPr>
          <p:nvPr/>
        </p:nvSpPr>
        <p:spPr>
          <a:xfrm>
            <a:off x="731520" y="374904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20분 · JavaVM / JNIEnv · 이름 규칙 vs RegisterNatives · 역방향 호출 · Invocation API · Framework JNI 세 지점</a:t>
            </a:r>
            <a:endParaRPr sz="15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5835" y="1371600"/>
            <a:ext cx="43878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702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1CFFD7-FA91-4177-AACC-BCABBBF1D5E0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C72533-F2C7-485A-BC84-30AD9F49A9E5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2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3815B0-69AC-4149-9307-A476F5321B1C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JNI 두 방향 — Native Method 와 역호출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446C5B-F04F-46BC-BBD5-C6E19FB6FC67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3260F1E-9812-4B9A-B7B3-97411F2D6534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14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2392392-172E-4278-AB3C-3C8A4BA5934E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6400800" cy="2651760"/>
          </a:xfrm>
          <a:prstGeom prst="roundRect">
            <a:avLst>
              <a:gd name="adj" fmla="val 2759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58D96A8-3D3C-42BB-B6C2-679D12244E40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6181344" cy="250545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Java → C  (First)  이름 규칙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JNIEXPORT void JNICALL Java_Hello_foo(JNIEnv* env, jobject thiz)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또는 JNI_OnLoad 에서 테이블 등록 (Third) — Framework 방식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JNINativeMethod nm[] = { {"foo", "()V", (void*)foo} };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env-&gt;RegisterNatives(clazz, nm, 1);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C → Java  (Second)  객체 생성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jclass    cls = env-&gt;FindClass("JniTest");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jmethodID mid = env-&gt;GetMethodID(cls, "&lt;init&gt;", "(I)V");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jobject   obj = env-&gt;NewObject(cls, mid, 100);   // new JniTest(100)</a:t>
            </a:r>
            <a:endParaRPr sz="1100"/>
          </a:p>
        </p:txBody>
      </p:sp>
      <p:graphicFrame>
        <p:nvGraphicFramePr>
          <p:cNvPr id="24" name="Table 0"/>
          <p:cNvGraphicFramePr/>
          <p:nvPr/>
        </p:nvGraphicFramePr>
        <p:xfrm>
          <a:off x="457200" y="4572000"/>
          <a:ext cx="6400800" cy="11811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개념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규칙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JavaVM / JNIEnv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Process 당 1 / Thread 당 1 (TLS) — JNIEnv 를 다른 Thread 에 넘기지 않는다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Local ref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jobject·jclass 는 함수 반환 시 무효 · 보관하려면 NewGlobalRef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시그니처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(I)V · (Ljava/lang/String;)V · [I — javap -s 로 확인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Native Thread 에서 Java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AttachCurrentThread + Global ref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>
            <a:extLst>
              <a:ext uri="{FF2B5EF4-FFF2-40B4-BE49-F238E27FC236}">
                <a16:creationId xmlns:a16="http://schemas.microsoft.com/office/drawing/2014/main" id="{ACDD10D9-03CA-4DA1-B164-8E65573804FC}"/>
              </a:ext>
            </a:extLst>
          </p:cNvPr>
          <p:cNvSpPr>
            <a:spLocks noGrp="1"/>
          </p:cNvSpPr>
          <p:nvPr/>
        </p:nvSpPr>
        <p:spPr>
          <a:xfrm>
            <a:off x="7132320" y="3931920"/>
            <a:ext cx="4572000" cy="146304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Invocation API: JNI_CreateJavaVM — Native 가 VM 을 만든다 → app_process 가 Zygote 를 띄우는 방식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Framework JNI 세 지점: JavaBBinder(Binder) · NativeMessageQueue(Looper) · Surface.mNativeObject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"Java 객체 안의 long 하나 = C++ 객체 포인터"</a:t>
            </a:r>
            <a:endParaRPr sz="10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EAE6E07-ED68-4C56-8DBE-D99EA646ADD1}"/>
              </a:ext>
            </a:extLst>
          </p:cNvPr>
          <p:cNvSpPr>
            <a:spLocks noGrp="1"/>
          </p:cNvSpPr>
          <p:nvPr/>
        </p:nvSpPr>
        <p:spPr>
          <a:xfrm>
            <a:off x="7132320" y="5486400"/>
            <a:ext cx="457200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CCB525A-24E0-471D-B59A-9937DDAEB868}"/>
              </a:ext>
            </a:extLst>
          </p:cNvPr>
          <p:cNvSpPr>
            <a:spLocks noGrp="1"/>
          </p:cNvSpPr>
          <p:nvPr/>
        </p:nvSpPr>
        <p:spPr>
          <a:xfrm>
            <a:off x="7132320" y="548640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6 · JNI 두 방향과 Framework JNI</a:t>
            </a:r>
            <a:endParaRPr sz="115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33762" y="1737360"/>
            <a:ext cx="4569115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310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3B06DB-63FE-4135-8E4A-99218A4F6462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734C15-4422-415E-958C-9688DF58C1B8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7·8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8D502A-4E01-4875-BD71-60050D12543F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JNI Native Method → Invocation API + Framework JNI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014AADD-453E-4549-B856-2EA5222B890E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C3CCBF9-6837-4A9A-9E3C-A5A388C4005C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15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DB8F383-C758-48CB-82E7-C9C6E4DC5DEE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8E70552-3FA6-46AD-8341-662D3D893F86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First · Second · Third 세 단계 (실습 7) → JNI_CreateJavaVM · app_process · JavaBBinder 읽기 (실습 8) — 호스트 JDK     ·     소요 35 + 25분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87226FD-2893-4DF9-BC37-A4F49546A296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8F36CBF-42AB-41F6-8A0F-EF6CAD196C3C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7 First: javac -h → Java_Hello_foo → gcc -shared → LD_LIBRARY_PATH=. java Hello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7 Second: FindClass/GetMethodID("&lt;init&gt;")/NewObject → Java 생성자 로그 · javap -s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7 Third: JNI_OnLoad + RegisterNatives — static 함수, -h 불필요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8: invocation.cpp -ljvm → Java main 호출 · app_main.cpp 의 AndroidRuntime::start 와 비교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8: :tag JavaBBinder / android_os_MessageQueue_nativePollOnce / android_view_Surface_lockCanvas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7C5FE4A-DE8A-46D0-AB2D-8D53F4AE94FB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CEF5084-B34E-49D5-A572-2D187964668B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3E60E41-2279-4506-AE51-AB942BDAB1D8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헤더 함수명 = Java_Hello_foo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 가 만든 JniTest(100) 로그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RegisterNatives 로 static foo 연결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JavaBBinder::onTransact → execTransact 줄 찾기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DDA6D63-C02D-4EDD-AD26-F0FBE6DD3998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1AFEAF4-745C-4DE2-88D2-C7D68D8A452F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6 · JNI</a:t>
            </a:r>
            <a:endParaRPr sz="115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22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7D10E1-66A5-4371-A922-9972DBE48AAF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A1E1D2-7055-4DD4-9D53-BC203F7A3CF4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Chapter 3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F2E25A-8DAE-41A9-9455-9450DAA1B546}"/>
              </a:ext>
            </a:extLst>
          </p:cNvPr>
          <p:cNvSpPr>
            <a:spLocks noGrp="1"/>
          </p:cNvSpPr>
          <p:nvPr/>
        </p:nvSpPr>
        <p:spPr>
          <a:xfrm>
            <a:off x="731520" y="251460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Graphics — SurfaceFlinger · BufferQueue · VSync</a:t>
            </a:r>
            <a:endParaRPr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52AB75-2C94-43EF-B3C6-5A32DFBF417B}"/>
              </a:ext>
            </a:extLst>
          </p:cNvPr>
          <p:cNvSpPr>
            <a:spLocks noGrp="1"/>
          </p:cNvSpPr>
          <p:nvPr/>
        </p:nvSpPr>
        <p:spPr>
          <a:xfrm>
            <a:off x="731520" y="374904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25분 · Producer → BufferQueue → Consumer · Transaction · dmabuf · VSync fd 를 Looper 로</a:t>
            </a:r>
            <a:endParaRPr sz="15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5835" y="1371600"/>
            <a:ext cx="43878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8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89C37F1-4070-4AB2-A24D-0C6CADDFB7E8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F0DD19-93E5-4342-BF7D-C9C3254413BC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3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95BF12-698A-42C3-94CA-72213A1FF2BB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SurfaceFlinger — Producer → BufferQueue → Consumer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7D0E29-445E-4798-94AB-896809257C68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696097-B87F-4E83-830A-9481C8ED67A1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17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1C59159-62EB-4B93-A471-A43CFC68F908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A3D4AD-D38A-42D3-B05A-B49DB5A5BBFD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329184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Client (Producer)</a:t>
            </a:r>
            <a:endParaRPr sz="13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3837879-8D6D-4924-83E2-FBB25FAF3D48}"/>
              </a:ext>
            </a:extLst>
          </p:cNvPr>
          <p:cNvSpPr>
            <a:spLocks noGrp="1"/>
          </p:cNvSpPr>
          <p:nvPr/>
        </p:nvSpPr>
        <p:spPr>
          <a:xfrm>
            <a:off x="457200" y="242316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AE2AAAB-5AAD-4941-82CE-61E8570CA823}"/>
              </a:ext>
            </a:extLst>
          </p:cNvPr>
          <p:cNvSpPr>
            <a:spLocks noGrp="1"/>
          </p:cNvSpPr>
          <p:nvPr/>
        </p:nvSpPr>
        <p:spPr>
          <a:xfrm>
            <a:off x="457200" y="2423160"/>
            <a:ext cx="3291840" cy="73152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SurfaceComposerClient · createSurface</a:t>
            </a:r>
            <a:endParaRPr sz="1050"/>
          </a:p>
          <a:p>
            <a:pPr marL="0" indent="0" algn="ctr">
              <a:buNone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Transaction.apply · lock/unlockAndPost</a:t>
            </a:r>
            <a:endParaRPr sz="10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C70A77F-6DC9-41ED-99E8-C563651CA83B}"/>
              </a:ext>
            </a:extLst>
          </p:cNvPr>
          <p:cNvSpPr>
            <a:spLocks noGrp="1"/>
          </p:cNvSpPr>
          <p:nvPr/>
        </p:nvSpPr>
        <p:spPr>
          <a:xfrm>
            <a:off x="4434840" y="17830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ED89B68-D778-49D1-8E4C-5F0D33434914}"/>
              </a:ext>
            </a:extLst>
          </p:cNvPr>
          <p:cNvSpPr>
            <a:spLocks noGrp="1"/>
          </p:cNvSpPr>
          <p:nvPr/>
        </p:nvSpPr>
        <p:spPr>
          <a:xfrm>
            <a:off x="4434840" y="1783080"/>
            <a:ext cx="329184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BufferQueue (dmabuf ×3)</a:t>
            </a:r>
            <a:endParaRPr sz="13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5D61F45-5174-4823-BE0B-B513B9436C31}"/>
              </a:ext>
            </a:extLst>
          </p:cNvPr>
          <p:cNvSpPr>
            <a:spLocks noGrp="1"/>
          </p:cNvSpPr>
          <p:nvPr/>
        </p:nvSpPr>
        <p:spPr>
          <a:xfrm>
            <a:off x="4434840" y="242316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DC8DABE-90D2-4918-B8FE-B39527990672}"/>
              </a:ext>
            </a:extLst>
          </p:cNvPr>
          <p:cNvSpPr>
            <a:spLocks noGrp="1"/>
          </p:cNvSpPr>
          <p:nvPr/>
        </p:nvSpPr>
        <p:spPr>
          <a:xfrm>
            <a:off x="4434840" y="2423160"/>
            <a:ext cx="3291840" cy="73152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dequeue → queue → acquire → release</a:t>
            </a:r>
            <a:endParaRPr sz="1050"/>
          </a:p>
          <a:p>
            <a:pPr marL="0" indent="0" algn="ctr">
              <a:buNone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픽셀 복사 없음 — FD 공유</a:t>
            </a:r>
            <a:endParaRPr sz="10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9056D83-495E-4C73-89B7-7DA71941EFDF}"/>
              </a:ext>
            </a:extLst>
          </p:cNvPr>
          <p:cNvSpPr>
            <a:spLocks noGrp="1"/>
          </p:cNvSpPr>
          <p:nvPr/>
        </p:nvSpPr>
        <p:spPr>
          <a:xfrm>
            <a:off x="8412480" y="17830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CAF4049-B709-4995-929D-6CF7A03989D1}"/>
              </a:ext>
            </a:extLst>
          </p:cNvPr>
          <p:cNvSpPr>
            <a:spLocks noGrp="1"/>
          </p:cNvSpPr>
          <p:nvPr/>
        </p:nvSpPr>
        <p:spPr>
          <a:xfrm>
            <a:off x="8412480" y="1783080"/>
            <a:ext cx="329184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SurfaceFlinger (Consumer)</a:t>
            </a:r>
            <a:endParaRPr sz="13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F79F2BC-D372-49A3-ACB3-CD50A235FB3A}"/>
              </a:ext>
            </a:extLst>
          </p:cNvPr>
          <p:cNvSpPr>
            <a:spLocks noGrp="1"/>
          </p:cNvSpPr>
          <p:nvPr/>
        </p:nvSpPr>
        <p:spPr>
          <a:xfrm>
            <a:off x="8412480" y="242316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E0F4F2"/>
          </a:solidFill>
          <a:ln w="12700">
            <a:solidFill>
              <a:srgbClr val="E0F4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405B015-7790-400D-BF70-71AE7DBCC298}"/>
              </a:ext>
            </a:extLst>
          </p:cNvPr>
          <p:cNvSpPr>
            <a:spLocks noGrp="1"/>
          </p:cNvSpPr>
          <p:nvPr/>
        </p:nvSpPr>
        <p:spPr>
          <a:xfrm>
            <a:off x="8412480" y="2423160"/>
            <a:ext cx="3291840" cy="73152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VSync → onMessageRefresh → composite</a:t>
            </a:r>
            <a:endParaRPr sz="1050"/>
          </a:p>
          <a:p>
            <a:pPr marL="0" indent="0" algn="ctr">
              <a:buNone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→ HWC → Display</a:t>
            </a:r>
            <a:endParaRPr sz="105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80D4264-1A80-48A4-9480-0235C811607E}"/>
              </a:ext>
            </a:extLst>
          </p:cNvPr>
          <p:cNvSpPr>
            <a:spLocks noGrp="1"/>
          </p:cNvSpPr>
          <p:nvPr/>
        </p:nvSpPr>
        <p:spPr>
          <a:xfrm>
            <a:off x="3840480" y="2606040"/>
            <a:ext cx="502920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98C9A25-1CA6-4487-8254-216505C419AB}"/>
              </a:ext>
            </a:extLst>
          </p:cNvPr>
          <p:cNvSpPr>
            <a:spLocks noGrp="1"/>
          </p:cNvSpPr>
          <p:nvPr/>
        </p:nvSpPr>
        <p:spPr>
          <a:xfrm>
            <a:off x="7818120" y="2606040"/>
            <a:ext cx="502920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E853726-E0FB-459B-B423-B842D0146A12}"/>
              </a:ext>
            </a:extLst>
          </p:cNvPr>
          <p:cNvSpPr>
            <a:spLocks noGrp="1"/>
          </p:cNvSpPr>
          <p:nvPr/>
        </p:nvSpPr>
        <p:spPr>
          <a:xfrm>
            <a:off x="457200" y="3383280"/>
            <a:ext cx="7498080" cy="2103120"/>
          </a:xfrm>
          <a:prstGeom prst="roundRect">
            <a:avLst>
              <a:gd name="adj" fmla="val 3478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17DBEBF-CEA2-49D9-BF76-4BF09C28214F}"/>
              </a:ext>
            </a:extLst>
          </p:cNvPr>
          <p:cNvSpPr>
            <a:spLocks noGrp="1"/>
          </p:cNvSpPr>
          <p:nvPr/>
        </p:nvSpPr>
        <p:spPr>
          <a:xfrm>
            <a:off x="566928" y="3456432"/>
            <a:ext cx="7278624" cy="195681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sp&lt;SurfaceControl&gt; sc = client-&gt;createSurface(String8("My Cpp Surface"), 400, 400, PIXEL_FORMAT_RGBA_8888, 0);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SurfaceComposerClient::Transaction tx;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tx.setLayer(sc, 0x7FFFFFFF).setPosition(sc, 100, 100).show(sc).apply();   // 한 VSync 에 원자 적용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sp&lt;ANativeWindow&gt; win = sc-&gt;getSurface();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ANativeWindow_lock(win.get(), &amp;buf, nullptr);      // dequeue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px = pixels + (y * buf.stride + x) * 4;             // ★ stride ≠ width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ANativeWindow_unlockAndPost(win.get());            // queue → 다음 VSync 에 합성</a:t>
            </a:r>
            <a:endParaRPr sz="11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8C75F52-124C-4FD1-BCD2-A209F3CCF3A0}"/>
              </a:ext>
            </a:extLst>
          </p:cNvPr>
          <p:cNvSpPr>
            <a:spLocks noGrp="1"/>
          </p:cNvSpPr>
          <p:nvPr/>
        </p:nvSpPr>
        <p:spPr>
          <a:xfrm>
            <a:off x="8229600" y="4846320"/>
            <a:ext cx="3474720" cy="9144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VSync fd = DisplayEventReceiver → Looper::addFd (실습 5 ④)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Layer 수명 = sp&lt;SurfaceControl&gt; 수명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16.67 ms 예산 초과 → Jank (실습 13)</a:t>
            </a:r>
            <a:endParaRPr sz="10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9FAFFA4-157E-4209-90BC-03862B5BDF07}"/>
              </a:ext>
            </a:extLst>
          </p:cNvPr>
          <p:cNvSpPr>
            <a:spLocks noGrp="1"/>
          </p:cNvSpPr>
          <p:nvPr/>
        </p:nvSpPr>
        <p:spPr>
          <a:xfrm>
            <a:off x="457200" y="566928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1E96263-C0C9-461A-807F-60D61B103CB7}"/>
              </a:ext>
            </a:extLst>
          </p:cNvPr>
          <p:cNvSpPr>
            <a:spLocks noGrp="1"/>
          </p:cNvSpPr>
          <p:nvPr/>
        </p:nvSpPr>
        <p:spPr>
          <a:xfrm>
            <a:off x="457200" y="566928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7 · SurfaceFlinger 파이프라인</a:t>
            </a:r>
            <a:endParaRPr sz="1150"/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30235" y="3383280"/>
            <a:ext cx="347345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487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F5A13C-1B90-4BC7-B6DA-ADD6513A5530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4C3C5B-588D-4F2C-9083-DB974FE30F21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9·10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6E3242-955F-4223-AC7E-487D4BA3E01B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SurfaceFlinger Client → VSync 애니메이션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285568-3116-4850-BAAF-EF2EAB2F3F17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CE1968-E8B8-4832-9BB7-6F25B8C098E8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18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E6DE8F7-B1A3-4368-B8FC-3E4EFCAD669D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364AE7C-E849-49D2-B67B-18C03B79D57F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Layer 생성·Transaction·픽셀 그리기 (실습 9) → DisplayEventReceiver fd 를 LooperCallback 으로 매 프레임 이동 (실습 10)     ·     소요 30 + 30분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6BD1A62-5810-4E36-95AA-165D0FA49229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59C490A-75FC-42B9-9B7C-B7A676AA2262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9: surface1/main.cpp — SurfaceComposerClient → createSurface(400×400) → Transaction → lock/unlockAndPost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9: 실험 — setLayer(0) · stride→width · while 삭제 · lock 두 번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10: vsync_anim.cpp — VSyncHandler : LooperCallback (실습 5 ④) · requestNextVsync · Looper::prepare + addFd + pollAll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10: setVsyncRate(2) · mX += 8 · usleep(20000) Jank · requestNextVsync 제거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 surface_client_test sf_vsync_anim → push → 실행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B62C35E-E2E7-4879-9816-AD122145CA97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BB6D459-F2C4-4313-ABA2-EF54DB90E0B6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309B0E6-B679-4A92-8363-D0ECA78F5D31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빨간 400×400 사각형, 종료 시 사라짐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dumpsys SurfaceFlinger 에 Layer z·pos·stride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초록 사각형 10초 이동, --latency 16666667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sp&lt;SurfaceControl&gt; vs unique_ptr&lt;DisplayEventReceiver&gt;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7CEBF8C-0ABE-4916-B6EC-5BC8AA30DB45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6C348FC-07BD-4A68-9E0E-2DE9053FFC17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7 · SurfaceFlinger 파이프라인</a:t>
            </a:r>
            <a:endParaRPr sz="11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0FE8502-9AA8-4E7B-9D54-AC59B6F0D747}"/>
              </a:ext>
            </a:extLst>
          </p:cNvPr>
          <p:cNvSpPr>
            <a:spLocks noGrp="1"/>
          </p:cNvSpPr>
          <p:nvPr/>
        </p:nvSpPr>
        <p:spPr>
          <a:xfrm>
            <a:off x="6858000" y="6099048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7DCCC2C-FEC9-4A28-A80C-4A7C050BCCFB}"/>
              </a:ext>
            </a:extLst>
          </p:cNvPr>
          <p:cNvSpPr>
            <a:spLocks noGrp="1"/>
          </p:cNvSpPr>
          <p:nvPr/>
        </p:nvSpPr>
        <p:spPr>
          <a:xfrm>
            <a:off x="6858000" y="6099048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4"/>
              </a:rPr>
              <a:t>▶  애니메이션 4 · Looper (addFd)</a:t>
            </a:r>
            <a:endParaRPr sz="115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81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1F15C4-2775-481D-B2AD-8B039F28C805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B2A73A-6021-4255-A8CC-B3DD30B2C3A8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Chapter 4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A3D8B8-6D1D-4416-B1CF-CAFADC8FE1AC}"/>
              </a:ext>
            </a:extLst>
          </p:cNvPr>
          <p:cNvSpPr>
            <a:spLocks noGrp="1"/>
          </p:cNvSpPr>
          <p:nvPr/>
        </p:nvSpPr>
        <p:spPr>
          <a:xfrm>
            <a:off x="731520" y="251460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공유 메모리 · Memory — pipe · ashmem · memfd · 측정 · LMKD</a:t>
            </a:r>
            <a:endParaRPr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70BCC1-3823-47F1-B360-B1DC69A87EC4}"/>
              </a:ext>
            </a:extLst>
          </p:cNvPr>
          <p:cNvSpPr>
            <a:spLocks noGrp="1"/>
          </p:cNvSpPr>
          <p:nvPr/>
        </p:nvSpPr>
        <p:spPr>
          <a:xfrm>
            <a:off x="731520" y="374904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30분 · FD 가 Binder 를 타는 원리 · pipe 복사 vs ashmem/memfd 페이지 공유 · MemoryHeapBase · seal · PSS/USS · oom_score_adj</a:t>
            </a:r>
            <a:endParaRPr sz="15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5835" y="1371600"/>
            <a:ext cx="43878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50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25FBD9-8AD2-4C2B-9B32-2FA4CD121311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B73666-07F5-4329-BB9E-66675595E599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4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71F798-B6E5-45AA-9CFA-D4E0D5D37C00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FD 하나가 Binder 를 탄다 — pipe · ashmem · memfd · dmabuf</a:t>
            </a:r>
            <a:endParaRPr sz="2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8361071-0C04-458A-A891-8429EDE58FDF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36FB71B-DCA5-4B9A-B0CE-67878A2B18F0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20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C3734C1-E8A2-4E40-9C35-7D0D1383599B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4CFC8A9-0A82-47CE-BC69-9A3ED367A638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2377440" cy="82296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Server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writeFileDescriptor(7)</a:t>
            </a:r>
            <a:endParaRPr sz="11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3E3C0FF-B82A-4A5F-B863-4DBBF092A3C1}"/>
              </a:ext>
            </a:extLst>
          </p:cNvPr>
          <p:cNvSpPr>
            <a:spLocks noGrp="1"/>
          </p:cNvSpPr>
          <p:nvPr/>
        </p:nvSpPr>
        <p:spPr>
          <a:xfrm>
            <a:off x="2926080" y="2057400"/>
            <a:ext cx="457200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B46C46A-A6B9-4757-8254-A5F58E4CEA88}"/>
              </a:ext>
            </a:extLst>
          </p:cNvPr>
          <p:cNvSpPr>
            <a:spLocks noGrp="1"/>
          </p:cNvSpPr>
          <p:nvPr/>
        </p:nvSpPr>
        <p:spPr>
          <a:xfrm>
            <a:off x="3474720" y="178308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29B59FC-0D8C-4E56-943D-AC7CCA54BFF6}"/>
              </a:ext>
            </a:extLst>
          </p:cNvPr>
          <p:cNvSpPr>
            <a:spLocks noGrp="1"/>
          </p:cNvSpPr>
          <p:nvPr/>
        </p:nvSpPr>
        <p:spPr>
          <a:xfrm>
            <a:off x="3474720" y="1783080"/>
            <a:ext cx="2743200" cy="82296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 Driver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수신 fd 테이블에 dup → 5</a:t>
            </a:r>
            <a:endParaRPr sz="11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B7EC693-6306-4F6E-804A-80CA2F2C1C2D}"/>
              </a:ext>
            </a:extLst>
          </p:cNvPr>
          <p:cNvSpPr>
            <a:spLocks noGrp="1"/>
          </p:cNvSpPr>
          <p:nvPr/>
        </p:nvSpPr>
        <p:spPr>
          <a:xfrm>
            <a:off x="6309360" y="2057400"/>
            <a:ext cx="457200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F77D206-53B0-4570-B4D1-0DD5364F773E}"/>
              </a:ext>
            </a:extLst>
          </p:cNvPr>
          <p:cNvSpPr>
            <a:spLocks noGrp="1"/>
          </p:cNvSpPr>
          <p:nvPr/>
        </p:nvSpPr>
        <p:spPr>
          <a:xfrm>
            <a:off x="6858000" y="178308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B39C16E-8996-4DFA-9C99-D70C859B4B28}"/>
              </a:ext>
            </a:extLst>
          </p:cNvPr>
          <p:cNvSpPr>
            <a:spLocks noGrp="1"/>
          </p:cNvSpPr>
          <p:nvPr/>
        </p:nvSpPr>
        <p:spPr>
          <a:xfrm>
            <a:off x="6858000" y="1783080"/>
            <a:ext cx="2377440" cy="82296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Client</a:t>
            </a:r>
            <a:endParaRPr sz="1150"/>
          </a:p>
          <a:p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readFileDescriptor() = 5</a:t>
            </a:r>
            <a:endParaRPr sz="11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6981CB7-6C0B-49D4-BC01-7CCC1D912006}"/>
              </a:ext>
            </a:extLst>
          </p:cNvPr>
          <p:cNvSpPr>
            <a:spLocks noGrp="1"/>
          </p:cNvSpPr>
          <p:nvPr/>
        </p:nvSpPr>
        <p:spPr>
          <a:xfrm>
            <a:off x="457200" y="269748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i="1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숫자가 아니라 커널 file 객체에 대한 참조가 넘어간다 — 종류만 다르다</a:t>
            </a:r>
            <a:endParaRPr sz="1100"/>
          </a:p>
        </p:txBody>
      </p:sp>
      <p:graphicFrame>
        <p:nvGraphicFramePr>
          <p:cNvPr id="39" name="Table 0"/>
          <p:cNvGraphicFramePr/>
          <p:nvPr/>
        </p:nvGraphicFramePr>
        <p:xfrm>
          <a:off x="457200" y="3200400"/>
          <a:ext cx="7498080" cy="17068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pipe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ashmem / MemoryHeapBase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memfd + F_SEAL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dmabuf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데이터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복사 (링 버퍼)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없음 — 같은 페이지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없음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없음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접근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순차 · 1회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mmap 임의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mmap 임의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GPU·HW 도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보호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—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PROT_MASK 강등 · unpin 회수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F_SEAL_WRITE 커널 보장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—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Binder wrapper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ParcelFileDescriptor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IMemoryHeap / IMemory (interface_cast 가 mmap)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SharedMemory (Java)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GraphicBuffer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사용처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로그 · 스트림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AudioFlinger · Camera · CursorWindow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신뢰 경계 버퍼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BufferQueue · Codec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6">
            <a:extLst>
              <a:ext uri="{FF2B5EF4-FFF2-40B4-BE49-F238E27FC236}">
                <a16:creationId xmlns:a16="http://schemas.microsoft.com/office/drawing/2014/main" id="{C752516E-C090-4FEB-92F1-6A57B7D3D324}"/>
              </a:ext>
            </a:extLst>
          </p:cNvPr>
          <p:cNvSpPr>
            <a:spLocks noGrp="1"/>
          </p:cNvSpPr>
          <p:nvPr/>
        </p:nvSpPr>
        <p:spPr>
          <a:xfrm>
            <a:off x="8229600" y="438912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D6D42E5-2438-4CA7-B091-9DCE0817D12E}"/>
              </a:ext>
            </a:extLst>
          </p:cNvPr>
          <p:cNvSpPr>
            <a:spLocks noGrp="1"/>
          </p:cNvSpPr>
          <p:nvPr/>
        </p:nvSpPr>
        <p:spPr>
          <a:xfrm>
            <a:off x="8339328" y="4462272"/>
            <a:ext cx="3255264" cy="122529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sp&lt;IMemoryHeap&gt; heap = new MemoryHeapBase(4096);    // ashmem/memfd + mmap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addService("ashmem.service", IMemoryHeap::asBinder(heap));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client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sp&lt;IMemoryHeap&gt; h = interface_cast&lt;IMemoryHeap&gt;(binder);   // FD 수신 + mmap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char* p = (char*)h-&gt;getBase();   // 서버와 같은 페이지</a:t>
            </a:r>
            <a:endParaRPr sz="9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BFDA942D-B0FA-494C-BFDF-9326D37CE450}"/>
              </a:ext>
            </a:extLst>
          </p:cNvPr>
          <p:cNvSpPr>
            <a:spLocks noGrp="1"/>
          </p:cNvSpPr>
          <p:nvPr/>
        </p:nvSpPr>
        <p:spPr>
          <a:xfrm>
            <a:off x="457200" y="585216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AC000717-7593-4BB8-A2EA-C8A4E4974C4D}"/>
              </a:ext>
            </a:extLst>
          </p:cNvPr>
          <p:cNvSpPr>
            <a:spLocks noGrp="1"/>
          </p:cNvSpPr>
          <p:nvPr/>
        </p:nvSpPr>
        <p:spPr>
          <a:xfrm>
            <a:off x="457200" y="585216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8 · 공유 메모리 — FD 전달</a:t>
            </a:r>
            <a:endParaRPr sz="1150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31128" y="1783080"/>
            <a:ext cx="3471664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90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A0463A-A0D2-4A37-B0F9-DB140C90896F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6D9D39-5064-4C7C-BB38-B8D2DDABE591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4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DA39B2-864E-4CB6-96EA-65DFA802F9FF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Memory 측정 — PSS / USS · Zygote COW · oom_score_adj · LMKD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E836F3-631B-475D-972E-5E04F91D053E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878885-6817-405C-B03A-CE820FA7DE81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21</a:t>
            </a:r>
            <a:endParaRPr sz="900"/>
          </a:p>
        </p:txBody>
      </p:sp>
      <p:graphicFrame>
        <p:nvGraphicFramePr>
          <p:cNvPr id="23" name="Table 0"/>
          <p:cNvGraphicFramePr/>
          <p:nvPr/>
        </p:nvGraphicFramePr>
        <p:xfrm>
          <a:off x="457200" y="1737360"/>
          <a:ext cx="4937760" cy="12573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지표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정의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언제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VSS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가상 주소 공간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거의 안 봄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RSS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물리 페이지 (공유 중복 계산)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대략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PSS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공유 페이지를 n 분의 1 로 배분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프로세스 비교·합산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USS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이 프로세스만의 페이지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죽이면 돌아오는 양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3B76A633-9640-407E-B5C2-BE11E4218BEB}"/>
              </a:ext>
            </a:extLst>
          </p:cNvPr>
          <p:cNvSpPr>
            <a:spLocks noGrp="1"/>
          </p:cNvSpPr>
          <p:nvPr/>
        </p:nvSpPr>
        <p:spPr>
          <a:xfrm>
            <a:off x="457200" y="3657600"/>
            <a:ext cx="6766560" cy="2194560"/>
          </a:xfrm>
          <a:prstGeom prst="roundRect">
            <a:avLst>
              <a:gd name="adj" fmla="val 3333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AE64AA9-7575-46C0-BDC6-9D80439B1240}"/>
              </a:ext>
            </a:extLst>
          </p:cNvPr>
          <p:cNvSpPr>
            <a:spLocks noGrp="1"/>
          </p:cNvSpPr>
          <p:nvPr/>
        </p:nvSpPr>
        <p:spPr>
          <a:xfrm>
            <a:off x="566928" y="3730752"/>
            <a:ext cx="6547104" cy="204825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$ dumpsys meminfo com.android.car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Native Heap · Dalvik Heap · .so mmap (shared clean ← Zygote COW)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Ashmem / Other mmap ← 실습 11 · Graphics ← 실습 9·10 · TOTAL PSS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$ procrank | head          # VSS RSS PSS USS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$ showmap &lt;pid&gt;            # 매핑별 · shared clean vs private dirty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$ cat /proc/&lt;pid&gt;/oom_score_adj     # 0 Foreground … 900+ Cached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$ logcat -s lmkd           # Kill 'com…settings' oom_score_adj 985 to free …</a:t>
            </a:r>
            <a:endParaRPr sz="11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78A628B-27DA-4741-9187-8F15BB4D1E82}"/>
              </a:ext>
            </a:extLst>
          </p:cNvPr>
          <p:cNvSpPr>
            <a:spLocks noGrp="1"/>
          </p:cNvSpPr>
          <p:nvPr/>
        </p:nvSpPr>
        <p:spPr>
          <a:xfrm>
            <a:off x="5577840" y="173736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D650817-972A-4C45-95FE-BF877DA313B4}"/>
              </a:ext>
            </a:extLst>
          </p:cNvPr>
          <p:cNvSpPr>
            <a:spLocks noGrp="1"/>
          </p:cNvSpPr>
          <p:nvPr/>
        </p:nvSpPr>
        <p:spPr>
          <a:xfrm>
            <a:off x="5760720" y="1828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D9971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LMKD</a:t>
            </a:r>
            <a:endParaRPr sz="13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2022211-779F-4C4F-8D80-195B1048DDFF}"/>
              </a:ext>
            </a:extLst>
          </p:cNvPr>
          <p:cNvSpPr>
            <a:spLocks noGrp="1"/>
          </p:cNvSpPr>
          <p:nvPr/>
        </p:nvSpPr>
        <p:spPr>
          <a:xfrm>
            <a:off x="5760720" y="2194560"/>
            <a:ext cx="2011680" cy="128016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PSI /proc/pressure/memory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oom_score_adj 높은 순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Cached 먼저, Foreground 마지막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ro.lmk.* 로 조정</a:t>
            </a:r>
            <a:endParaRPr sz="10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6C135BC-B8FD-43CF-A748-7B1115077B71}"/>
              </a:ext>
            </a:extLst>
          </p:cNvPr>
          <p:cNvSpPr>
            <a:spLocks noGrp="1"/>
          </p:cNvSpPr>
          <p:nvPr/>
        </p:nvSpPr>
        <p:spPr>
          <a:xfrm>
            <a:off x="8229600" y="4206240"/>
            <a:ext cx="3474720" cy="15544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Zygote COW: preload 페이지가 shared clean → App PSS 가 작다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공유 메모리는 Native Heap 이 아닌 별도 항목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AMS 가 Process 상태별로 oom_score_adj 부여 (dumpsys activity oom)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12: MemHog 로 압박 → lmkd Kill 순서 관찰</a:t>
            </a:r>
            <a:endParaRPr sz="1000"/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30699" y="1737360"/>
            <a:ext cx="3472523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205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532AE9-F06F-43E2-8377-934A60C57661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DDA030-C497-43C1-B346-7058E5102DE7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9799782-7E6F-4845-9471-738013DEB8DC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공유 메모리 3단계 — pipe → ashmem → memfd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966B74-F5CA-4764-909D-973524FEE4FC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767E26-FFC6-43B2-9D1C-340AD7D1B590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22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E305E55-5D0E-499B-BC45-74257F213367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DE9DDD3-768E-416D-9319-F564BBCAF05F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Day 1 실습 11 의 "FD 만 Binder 로" 를 Native 에서 세 방식으로, /proc/&lt;pid&gt;/fd 와 dup 번호 확인     ·     소요 30분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63E9B2-229F-4543-B20B-E5CE4900248E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E9A14C2-2915-4C4C-A7D7-E30BF32793DC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① pipe_server/client: BBinder 가 pipe(fd) → writeFileDescriptor(fd[0]) · Writer : Thread(실습 4) 가 8 MB write · Client fd 번호 ≠ 서버 (dup)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② ashmem1: MemoryHeapBase(4096) → addService(IMemoryHeap::asBinder) · Client interface_cast → getBase() 같은 페이지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② ashmem2: MemoryBase(heap, 2048, 1024) → IMemory · getMemory(&amp;offset,&amp;size) · ls -l /proc/&lt;pid&gt;/fd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③ memfd: memfd_create + ftruncate + mmap + F_ADD_SEALS → Client PROT_WRITE mmap / ftruncate → EPERM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 pipe_server pipe_client ashmem1_* ashmem2_* memfd_* → push → 각 서버 &amp; 후 client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3558154-5234-4977-9682-5B2B7EAF2C6A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817D2E3-97B5-4AF1-AE49-FA9112F75C30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3B2C6EF-2495-44F8-8278-2E4E6E5A2B5A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① fd 번호 차이, 8388608 bytes 수신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② 서버 문자열을 Client 가 읽음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② offset=2048 size=1024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③ seals=0xf, EPERM 두 번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비교표 작성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74C5DC4-2216-4239-B9D1-6CAB4C0BCE6A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1485CD8-1BB5-4C39-B2E3-1CE6009115AF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8 · 공유 메모리 — FD 전달</a:t>
            </a:r>
            <a:endParaRPr sz="115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61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218769-7121-4F08-B78B-A9A66D294B69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367A79-C689-4D68-87B1-AE82580A6BB6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12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9BEAB4-4ABF-4931-A568-C8B3DEAE5C92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Graphics · Memory 분석 + LMKD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E3758FB-5DB9-43FF-AA88-834446A99353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B0BFCA-3C5D-4ACD-98DA-E2CC57FEBE84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23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DF28D63-8A8F-4331-980F-9D510A4E40B7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CE292D2-6253-4B05-956E-86FA8B369399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dumpsys SurfaceFlinger 로 내 Layer, meminfo/procrank/showmap 으로 PSS·USS, oom_score_adj 와 lmkd Kill 순서     ·     소요 30분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0AE2A73-FEF8-4998-A7E5-C3BCD1730D9E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51EC31-206E-438C-921B-1A2BBE9E1F0B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surface_client_test 띄운 채 dumpsys SurfaceFlinger --list · grep -A25 'My Cpp Surface' (z · pos · stride 448) · --latency · gfxinfo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dumpsys meminfo com.android.car 항목 해석 · Ashmem/Other mmap 에 실습 11 · Graphics 에 실습 9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procrank · showmap &lt;pid&gt; — Zygote 와 App 의 shared clean 비교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oom_score_adj: Foreground 0 → 홈으로 나가면 900 대 · dumpsys activity oom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MemHog (byte[50MB] 누적) → logcat -s lmkd Kill 순서 · /proc/pressure/memory · getprop ro.lmk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9A9441B-3A43-4946-A8D7-C4E82DBCA0AC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FB94EA8-466E-4D29-A2EC-E4F79D0EF512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9CFB650-EF7B-4803-91F0-9A272F028D71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Layer 의 activeBuffer stride 448 (≠400)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.so mmap = shared clean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oom_score_adj 0 ↔ 9xx 변화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lmkd Kill '…' oom_score_adj 9xx 순서</a:t>
            </a:r>
            <a:endParaRPr sz="105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83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3F44E1-5A36-4737-A696-C7210D28CB80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F854B0-DC44-4A43-AC30-1FC294EF9663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Part 3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BD774A4-EEEB-43F4-A85A-84607C8BA889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13 (데모) · Perfetto 로 합성 파이프라인 · Jank 보기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929BAE-B0EC-4913-BE0E-FF67DF414126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788BEF-440D-444D-B437-26536B866F74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24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2368FB-8214-4DC7-B6D2-590303D1897C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6766560" cy="2011680"/>
          </a:xfrm>
          <a:prstGeom prst="roundRect">
            <a:avLst>
              <a:gd name="adj" fmla="val 3636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CE907F0-0821-454E-A331-1DD3A64C0E75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6547104" cy="186537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$ adb shell perfetto -c - --txt -o /data/misc/perfetto-traces/day3.perfetto-trace &lt;&lt;EOF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buffers: { size_kb: 65536 fill_policy: RING_BUFFER 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data_sources: { config { name: "linux.ftrace" ftrace_config {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atrace_categories: "gfx" atrace_categories: "sf" atrace_apps: "*" } } 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data_sources: { config { name: "android.surfaceflinger.frametimeline" } 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duration_ms: 6000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EOF</a:t>
            </a:r>
            <a:endParaRPr sz="1100"/>
          </a:p>
        </p:txBody>
      </p:sp>
      <p:graphicFrame>
        <p:nvGraphicFramePr>
          <p:cNvPr id="21" name="Table 0"/>
          <p:cNvGraphicFramePr/>
          <p:nvPr/>
        </p:nvGraphicFramePr>
        <p:xfrm>
          <a:off x="457200" y="3931920"/>
          <a:ext cx="6766560" cy="12573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트랙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보는 것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vsync_rect Actual/Expected Timeline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프레임마다 예산 준수 여부 — 빨강 = Jank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surfaceflinger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onMessageRefresh · composite · HWC — 매 VSync 반복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sf_vsync_anim main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handleEvent 가 VSync 직후 짧게 → Transaction.apply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usleep(20000) 후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handleEvent 가 16.67 ms 초과 → 다음 VSync 침범 → 드롭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8080" y="1737671"/>
            <a:ext cx="4206240" cy="411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808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C38672-FC62-4A6A-9703-F9AF757243E3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AE77D4-2F07-412A-83F1-A0B76ADF5A72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정리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D476BA-F81B-4FC9-A024-63CFA8442443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3 Worksheet — 20문제, 20분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77975F-5A5E-433F-B068-238C01351168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B32EE33-5A5A-4014-B6C9-6BB5DF64AC13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25</a:t>
            </a:r>
            <a:endParaRPr sz="900"/>
          </a:p>
        </p:txBody>
      </p:sp>
      <p:graphicFrame>
        <p:nvGraphicFramePr>
          <p:cNvPr id="20" name="Table 0"/>
          <p:cNvGraphicFramePr/>
          <p:nvPr/>
        </p:nvGraphicFramePr>
        <p:xfrm>
          <a:off x="457200" y="1737360"/>
          <a:ext cx="7498080" cy="1828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유형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문제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범위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객관식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Q1 ~ Q8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intrusive sp · promote · threadLoop 반환 · epoll · Binder Thread 와 Looper · RegisterNatives · dmabuf · F_SEAL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단답형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Q9 ~ Q13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onFirstRef · wake · PoolThread · JNI_CreateJavaVM · MemoryHeapBase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빈칸 채우기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Q14 ~ Q17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static/this · addFd/sendMessage · JavaBBinder/mNativeObject · Transaction/16.67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순번 지정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Q18 ~ Q19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Thread 생명주기 · 픽셀 → 화면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선잇기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Q20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pipe · ashmem · memfd · dmabuf · writeFileDescriptor ↔ 특징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>
            <a:extLst>
              <a:ext uri="{FF2B5EF4-FFF2-40B4-BE49-F238E27FC236}">
                <a16:creationId xmlns:a16="http://schemas.microsoft.com/office/drawing/2014/main" id="{21767E63-081E-4643-9FB4-E88D33A641AD}"/>
              </a:ext>
            </a:extLst>
          </p:cNvPr>
          <p:cNvSpPr>
            <a:spLocks noGrp="1"/>
          </p:cNvSpPr>
          <p:nvPr/>
        </p:nvSpPr>
        <p:spPr>
          <a:xfrm>
            <a:off x="457200" y="4389120"/>
            <a:ext cx="7315200" cy="13716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Day3_Worksheet.html 을 열어 풀고 채점하기 → 문제별 해설 확인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종이로 풀 경우 인쇄 (문제만) → 강사가 정답·해설 모두 보기로 풀이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16 / 20 이상이면 오늘 내용을 충분히 이해한 것</a:t>
            </a:r>
            <a:endParaRPr sz="12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38FCC55-A32C-42A0-88D9-800A7373E10A}"/>
              </a:ext>
            </a:extLst>
          </p:cNvPr>
          <p:cNvSpPr>
            <a:spLocks noGrp="1"/>
          </p:cNvSpPr>
          <p:nvPr/>
        </p:nvSpPr>
        <p:spPr>
          <a:xfrm>
            <a:off x="8229600" y="4480560"/>
            <a:ext cx="3657600" cy="384048"/>
          </a:xfrm>
          <a:prstGeom prst="roundRect">
            <a:avLst>
              <a:gd name="adj" fmla="val 28571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3812C97-A1D5-48F5-8D09-AEF1CBEF5E6B}"/>
              </a:ext>
            </a:extLst>
          </p:cNvPr>
          <p:cNvSpPr>
            <a:spLocks noGrp="1"/>
          </p:cNvSpPr>
          <p:nvPr/>
        </p:nvSpPr>
        <p:spPr>
          <a:xfrm>
            <a:off x="8229600" y="44805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Day 3 Worksheet 열기</a:t>
            </a:r>
            <a:endParaRPr sz="1150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31128" y="1737360"/>
            <a:ext cx="3471664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332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974847-654B-4B15-B57B-D5E2EED92386}"/>
              </a:ext>
            </a:extLst>
          </p:cNvPr>
          <p:cNvSpPr>
            <a:spLocks noGrp="1"/>
          </p:cNvSpPr>
          <p:nvPr/>
        </p:nvSpPr>
        <p:spPr>
          <a:xfrm>
            <a:off x="731520" y="6400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EAB8F5-8C6F-40C2-B191-8B45BEC5327A}"/>
              </a:ext>
            </a:extLst>
          </p:cNvPr>
          <p:cNvSpPr>
            <a:spLocks noGrp="1"/>
          </p:cNvSpPr>
          <p:nvPr/>
        </p:nvSpPr>
        <p:spPr>
          <a:xfrm>
            <a:off x="731520" y="6400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3 정리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C05012-89D9-4D61-8BCB-04B2C6761225}"/>
              </a:ext>
            </a:extLst>
          </p:cNvPr>
          <p:cNvSpPr>
            <a:spLocks noGrp="1"/>
          </p:cNvSpPr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오늘 확인한 것</a:t>
            </a:r>
            <a:endParaRPr sz="3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9EB817-C562-419C-9487-7E25054ED29F}"/>
              </a:ext>
            </a:extLst>
          </p:cNvPr>
          <p:cNvSpPr>
            <a:spLocks noGrp="1"/>
          </p:cNvSpPr>
          <p:nvPr/>
        </p:nvSpPr>
        <p:spPr>
          <a:xfrm>
            <a:off x="731520" y="192024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F1BE61-C67F-402D-8DA6-FCD18962DF23}"/>
              </a:ext>
            </a:extLst>
          </p:cNvPr>
          <p:cNvSpPr>
            <a:spLocks noGrp="1"/>
          </p:cNvSpPr>
          <p:nvPr/>
        </p:nvSpPr>
        <p:spPr>
          <a:xfrm>
            <a:off x="731520" y="192024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F5B9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sp / wp</a:t>
            </a:r>
            <a:endParaRPr sz="12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6D91B6C-3F8A-4FDD-BBF1-EBD52B96C831}"/>
              </a:ext>
            </a:extLst>
          </p:cNvPr>
          <p:cNvSpPr>
            <a:spLocks noGrp="1"/>
          </p:cNvSpPr>
          <p:nvPr/>
        </p:nvSpPr>
        <p:spPr>
          <a:xfrm>
            <a:off x="2926080" y="192024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DCE6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카운트는 객체 안(RefBase, intrusive) · wp 는 promote 후 검사 · 순환은 한쪽 wp · onFirstRef</a:t>
            </a:r>
            <a:endParaRPr sz="11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49C0DB8-7BA5-4D2F-AEAD-4A9B66916D84}"/>
              </a:ext>
            </a:extLst>
          </p:cNvPr>
          <p:cNvSpPr>
            <a:spLocks noGrp="1"/>
          </p:cNvSpPr>
          <p:nvPr/>
        </p:nvSpPr>
        <p:spPr>
          <a:xfrm>
            <a:off x="731520" y="269748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87C4156-9F7D-4389-B69C-FA5153B557F8}"/>
              </a:ext>
            </a:extLst>
          </p:cNvPr>
          <p:cNvSpPr>
            <a:spLocks noGrp="1"/>
          </p:cNvSpPr>
          <p:nvPr/>
        </p:nvSpPr>
        <p:spPr>
          <a:xfrm>
            <a:off x="731520" y="26974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F5B9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Thread · Looper</a:t>
            </a:r>
            <a:endParaRPr sz="12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D5772D7-7413-48A5-A6AF-B803F5025F25}"/>
              </a:ext>
            </a:extLst>
          </p:cNvPr>
          <p:cNvSpPr>
            <a:spLocks noGrp="1"/>
          </p:cNvSpPr>
          <p:nvPr/>
        </p:nvSpPr>
        <p:spPr>
          <a:xfrm>
            <a:off x="2926080" y="269748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DCE6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static+this 트램폴린 · run/readyToRun/threadLoop · Looper = epoll fd 루프 + 메시지 큐</a:t>
            </a:r>
            <a:endParaRPr sz="11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86ABAC4-5012-4B67-B8E2-0E3EEAC3C011}"/>
              </a:ext>
            </a:extLst>
          </p:cNvPr>
          <p:cNvSpPr>
            <a:spLocks noGrp="1"/>
          </p:cNvSpPr>
          <p:nvPr/>
        </p:nvSpPr>
        <p:spPr>
          <a:xfrm>
            <a:off x="731520" y="347472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84675F0-243B-42D6-A707-BDE212B60A97}"/>
              </a:ext>
            </a:extLst>
          </p:cNvPr>
          <p:cNvSpPr>
            <a:spLocks noGrp="1"/>
          </p:cNvSpPr>
          <p:nvPr/>
        </p:nvSpPr>
        <p:spPr>
          <a:xfrm>
            <a:off x="731520" y="347472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F5B9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 와의 관계</a:t>
            </a:r>
            <a:endParaRPr sz="12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303F65C-6B79-4D28-A623-8A13CFA842BE}"/>
              </a:ext>
            </a:extLst>
          </p:cNvPr>
          <p:cNvSpPr>
            <a:spLocks noGrp="1"/>
          </p:cNvSpPr>
          <p:nvPr/>
        </p:nvSpPr>
        <p:spPr>
          <a:xfrm>
            <a:off x="2926080" y="347472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DCE6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 Thread = PoolThread(joinThreadPool) · Main = Looper::pollOnce · 콜백은 Handler.post 로 큐에</a:t>
            </a:r>
            <a:endParaRPr sz="11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4F8F2C3-5725-4761-B4C9-729990AEFE8C}"/>
              </a:ext>
            </a:extLst>
          </p:cNvPr>
          <p:cNvSpPr>
            <a:spLocks noGrp="1"/>
          </p:cNvSpPr>
          <p:nvPr/>
        </p:nvSpPr>
        <p:spPr>
          <a:xfrm>
            <a:off x="731520" y="42519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AA4A51B-FC72-4D06-9968-4FF5D337359E}"/>
              </a:ext>
            </a:extLst>
          </p:cNvPr>
          <p:cNvSpPr>
            <a:spLocks noGrp="1"/>
          </p:cNvSpPr>
          <p:nvPr/>
        </p:nvSpPr>
        <p:spPr>
          <a:xfrm>
            <a:off x="731520" y="425196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F5B9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JNI · Graphics</a:t>
            </a:r>
            <a:endParaRPr sz="12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7D260D2-8BBE-4FA3-BDBD-7B3BABCEB9A3}"/>
              </a:ext>
            </a:extLst>
          </p:cNvPr>
          <p:cNvSpPr>
            <a:spLocks noGrp="1"/>
          </p:cNvSpPr>
          <p:nvPr/>
        </p:nvSpPr>
        <p:spPr>
          <a:xfrm>
            <a:off x="2926080" y="425196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DCE6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Java_규칙 vs RegisterNatives · long → C++ 객체 · Producer→BufferQueue→SF · VSync fd 를 addFd</a:t>
            </a:r>
            <a:endParaRPr sz="11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9F7A7D8-697F-4DA9-86B1-2E07E1EA1C84}"/>
              </a:ext>
            </a:extLst>
          </p:cNvPr>
          <p:cNvSpPr>
            <a:spLocks noGrp="1"/>
          </p:cNvSpPr>
          <p:nvPr/>
        </p:nvSpPr>
        <p:spPr>
          <a:xfrm>
            <a:off x="731520" y="50292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2265FE3-EBCF-4024-94BC-E95884127DA4}"/>
              </a:ext>
            </a:extLst>
          </p:cNvPr>
          <p:cNvSpPr>
            <a:spLocks noGrp="1"/>
          </p:cNvSpPr>
          <p:nvPr/>
        </p:nvSpPr>
        <p:spPr>
          <a:xfrm>
            <a:off x="731520" y="502920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F5B9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공유 메모리</a:t>
            </a:r>
            <a:endParaRPr sz="12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BBF4690-8775-4736-A77C-9F8302AC6F89}"/>
              </a:ext>
            </a:extLst>
          </p:cNvPr>
          <p:cNvSpPr>
            <a:spLocks noGrp="1"/>
          </p:cNvSpPr>
          <p:nvPr/>
        </p:nvSpPr>
        <p:spPr>
          <a:xfrm>
            <a:off x="2926080" y="502920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DCE6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FD 참조가 dup 되어 넘어간다 · pipe 복사 / ashmem·memfd 페이지 공유 / seal / dmabuf</a:t>
            </a:r>
            <a:endParaRPr sz="11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6975BD1-9F68-4FD9-B3EF-B861DDA09730}"/>
              </a:ext>
            </a:extLst>
          </p:cNvPr>
          <p:cNvSpPr>
            <a:spLocks noGrp="1"/>
          </p:cNvSpPr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i="1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4 예고 — APEX · RRO · SystemUI 커스터마이징 · Perfetto · Android Automotive (CarService · CarPropertyManager · VHAL)</a:t>
            </a:r>
            <a:endParaRPr sz="1400"/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95360" y="1921678"/>
            <a:ext cx="2926080" cy="370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098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9558</Words>
  <Application>Microsoft Office PowerPoint</Application>
  <DocSecurity>0</DocSecurity>
  <PresentationFormat>와이드스크린</PresentationFormat>
  <Paragraphs>547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jungin kim</cp:lastModifiedBy>
  <cp:revision>1</cp:revision>
  <dcterms:created xsi:type="dcterms:W3CDTF">2026-09-16T13:42:55Z</dcterms:created>
  <dcterms:modified xsi:type="dcterms:W3CDTF">2026-09-16T14:02:21Z</dcterms:modified>
</cp:coreProperties>
</file>