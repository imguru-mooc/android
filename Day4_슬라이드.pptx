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7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도입, 3분]
마지막 날입니다. 사흘 동안 Binder, Native Service, HAL, libutils, SurfaceFlinger, 공유 메모리를 밑에서부터 봤습니다. 오늘은 그 위에서 제품을 만드는 사람이 매일 하는 일을 합니다.
오전은 "이미지를 다시 굽지 않고 시스템을 바꾸는 세 가지" 입니다. APEX 모듈, RRO 리소스 오버레이, 그리고 SystemUI 소스를 고쳐 APK 만 교체하기. 셋 다 오늘 각자 한 번씩 합니다.
오후는 Automotive 입니다. CarService 와 VHAL 이 Day 2 에서 만든 Java Service 와 AIDL HAL 그대로라는 것을 확인하고, 저장소의 HVAC 시뮬레이터 앱을 실제 차량 속성에 연결합니다. 마지막 실습 13 에서 온도 버튼 한 번을 Perfetto 로 캡처하면 4일 동안 배운 것이 화살표 하나로 이어집니다.
[운영] 오늘은 /system 에 씁니다. 실습 1 의 2단계 remount 가 안 되면 실습 6·7·11 이 전부 막히니 시작하자마자 전원 확인합니다. Android Studio 프로젝트 5개(RROTarget, RROOverlay, SystemUIOverlay, FloatingOverlay, HvacSimulator)를 오늘 씁니다.
[확인] Day 3 의 sf_vsync_anim 이 아직 /data 에 있는 분, day3_trace.cfg 가 /data/local/tmp 에 있는 분 손 들어 주세요. 실습 8·13 에서 재사용합니다.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2분]
Part 0 는 15분. remount 2단계와 aapt 만 끝내면 됩니다.
Part 1 강의 90분. Ch 1 은 델타 배포 판단표를 중심으로 APEX·RRO·SRO·소스 수정을 30분, Ch 2 SystemUI 와 WindowManager 25분, Ch 3 Automotive 35분입니다.
Part 2 실습 335분. 강사 시연이나 선택 과제는 없습니다. 열두 개 실습을 전원이 합니다.
Part 3 는 총정리 20분과 Worksheet 20분.
[강조] 노란 상자. 실습 2·3·7 이 각각 APEX, RRO, 소스 수정입니다. 실습 6 과 7 은 같은 SystemUI 를 리소스와 코드로 바꿔 경계를 체감합니다. 실습 10~13 은 Day 2 의 HAL·VINTF·UID 규칙이 car_service 와 IVehicle 에 그대로 적용되는 것을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15분]
실습 1 의 핵심은 2단계 remount 입니다. 첫 번째 adb remount 는 verity 를 끄고 overlayfs 를 설정하고 "reboot required" 를 냅니다. reboot 후 두 번째 remount 가 실제 쓰기 마운트이고 "remount succeeded" 가 나옵니다. 두 번째를 빼먹으면 이후 모든 /system push 가 Read-only file system 입니다. 오늘 질문의 절반이 여기서 나오니 전원이 touch /system/remount_ok 까지 확인하고 넘어갑니다.
Emulator 는 -writable-system 으로 떠 있어야 합니다. bat 파일을 확인시키세요.
aapt 는 실습 6 에서 씁니다. build-tools 안에 있습니다.
빌드 서버의 simple_apex 에 키 4종이 있는지 확인합니다. 강사가 미리 넣어 두었습니다. 없으면 실습 2 Step 3 의 명령으로 2분이면 만듭니다.
[체크포인트] remount succeeded, aapt version, 키 4종.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1, 30분. 제품을 만들 때 가장 자주 받는 질문이 "이거 이미지 다시 구워야 하나요?" 입니다. 그 답이 델타 배포 판단표이고, 이 챕터의 나머지는 그 표의 각 줄입니다. 애니메이션 1~4 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6분, 애니메이션 1 재생]
이 표가 오늘의 지도입니다. 애니메이션 1 번을 재생하면서 위에서 아래로 갑니다.
Native 바이너리와 .so — Day 2·3 에서 매일 한 것. m 하고 adb push. 수십 초. 이미지와 무관합니다.
Java 리소스 — 색, 문자열, drawable, config 값. RRO 로 APK 하나를 설치하고 enable 합니다. 코드 재빌드가 없습니다. 실습 3 과 6.
시스템 앱 코드 — SystemUI 의 타일이나 상태바 뷰. m SystemUI 로 APK 만 다시 빌드해 push 하고 killall. 수 분. 실습 7.
독립 배포 모듈 — 바이너리와 라이브러리를 묶어 따로 버전 관리하고 싶을 때 APEX. .apex 를 push 하고 reboot. 실습 2.
경계선 — init.rc 는 push 로 되지만 SELinux .te 는 정책 리빌드가 필요합니다. Day 2 실습 9 에서 본 것입니다.
마지막 줄 — 커널, 기본 탑재 RRO, VHAL 속성 추가. 여기서만 m emu_img_zip 으로 이미지를 다시 굽고 Emulator 를 재시작합니다. Day 1 실습 13 이 이것이었습니다.
[강조] 초록 상자. 이미지를 다시 굽는 것은 마지막 줄뿐입니다. 이 표를 외우면 오늘 실습의 절반은 이해한 것입니다. Worksheet 마지막 선잇기가 이 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2 재생]
APEX 는 Android 10 부터 도입된 모듈 단위입니다. 파일시스템 이미지(ext4) 에 바이너리와 라이브러리를 담고 manifest 와 서명을 붙인 것입니다. 애니메이션 2 번을 재생하세요.
왼쪽 코드가 실습 2 의 Android.bp 전부입니다. apex 모듈에 manifest, binaries, key, certificate. key 는 apex_key 로 AVB 키(.pem, .avbpubkey)를 가리키고 certificate 는 android_app_certificate 로 APK 키(.pk8, .x509.pem)를 가리킵니다. 부팅 검증과 패키지 서명, 두 벌이 다 필요합니다.
file_contexts 는 명시하지 않습니다. 빌드 시스템이 system/sepolicy/apex/&lt;name&gt;-file_contexts 를 자동으로 찾습니다. 모듈 안에 두면 "should be under system/sepolicy" 오류입니다. SELinux 라벨은 정책 트리에서만 관리한다는 규칙입니다. 실습 2 Step 7 에서 일부러 재현합니다.
updatable: false 는 이미지에 내장되는 커스텀 모듈이라는 뜻이고, 이때 compressible 을 켜면 "do not compress non-updatable APEX" 오류입니다. 이것도 재현합니다.
아래 흐름. m 으로 .apex 를 만들고, remount 상태에서 /system/apex 에 push 하고 reboot. apexd 가 서명을 검증하고 loop mount 해서 /apex/com.example.simple@1 이 생깁니다. @ 없는 심볼릭 링크도 함께. dumpsys apexservice 로 상태를 봅니다.
[연결] Mainline 모듈 — ART, Media, Wi-Fi — 이 이 형식으로 Play 를 통해 업데이트됩니다. 여러분이 만드는 커스텀 APEX 는 이미지 내장이지만 구조는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3 재생]
RRO 는 세 당사자의 계약입니다. 애니메이션 3 번을 재생하세요.
왼쪽 타겟 앱. overlayable.xml 로 "이 리소스들은 덮어써도 된다" 고 선언합니다. Android 11 부터 의무입니다. 목록 밖 리소스는 오버레이가 아무리 정의해도 무시됩니다. 실습 3 Step 4 에서 hello_world 를 목록에서 빼면 문자열만 안 바뀌는 것을 봅니다.
가운데 오버레이 APK. 코드가 없습니다(hasCode=false). manifest 의 overlay 태그가 targetPackage 와 targetName 으로 "저 앱의 저 계약을 덮는다" 고 지목합니다. priority 는 높을수록 우선, isStatic=true 면 항상 켜집니다. 안에는 타겟과 같은 이름·타입의 리소스만 넣습니다. 파일명이 아니라 리소스 이름으로 매칭됩니다.
세 번째 당사자 OverlayManagerService. 설치되면 targetPackage, targetName, policy 를 검사해 idmap 을 만듭니다. cmd overlay list 의 세 상태. [x] 활성, [ ] 매칭 성공이지만 비활성이라 enable 이 필요, --- 는 매칭 실패입니다. 오늘 --- 를 여러 번 보게 됩니다.
[연결] SRO는 이 매칭이 빌드 시 Gradle 안에서 일어나는 것입니다. 런타임 전환이 없습니다. 실습 4 에서 5분만 합니다. 그리고 cmd overlay list 의 실체는 IOverlayManager 라는 hidden API 입니다. 실습 4 의 ListOverlays 가 app_process 로 그것을 직접 부릅니다. Day 3 실습 8 의 app_process 가 여기서 도구가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4 재생]
방금 본 계약이 Car SystemUI 에서는 깨집니다. 애니메이션 4 번을 재생하세요.
SystemUI 를 덮는 오버레이를 adb install 로 넣으면 ---, 매칭 실패입니다. dumpsys overlay 를 보면 Car SystemUI 의 mTargetOverlayableName 이 null 입니다. overlayable 을 선언하지 않았습니다.
이유는 policy 입니다. 사용자가 설치한 오버레이는 policy public 이라 타겟의 overlayable 이 필수입니다. /system/app 에 있는 오버레이는 policy system 이라 overlayable 없이도 매칭됩니다. 그래서 해결은 두 가지. manifest 에서 targetName 을 빼고, APK 를 /system/app 에 시스템 앱으로 설치합니다.
/system 에 쓰려면 2단계 remount 가 필요합니다. 실습 1 에서 이미 했으니 실습 6 에서는 mkdir, push, reboot, enable, killall 순서입니다. 아래 코드가 그것입니다.
리소스 이름이 문제입니다. Car SystemUI 는 Phone SystemUI 와 이름이 다릅니다. 추측하면 안 바뀝니다. pm path 로 APK 경로를 찾아 pull 하고 aapt dump resources 로 실제 이름을 뽑습니다. system_bar_clock_text_color, car_nav_icon_fill_color 같은 것들입니다.
바 배경은 잘 안 바뀝니다. Car SystemUI 의 바는 투명 배경이라 *_transparent 리소스도 함께 덮어야 합니다.
[강조] 오른쪽 노란 상자, 변경이 안 먹을 때 7가지. remount, ---, enable, killall, aapt 이름, priority, 크래시 로그. 오늘 질문의 80% 가 이 일곱 줄로 풀립니다. 실습 6 트러블슈팅 표에 그대로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35분]
실습 2 입니다. 파일은 다섯 개, main.cpp, binary/Android.bp, apex_manifest.json, Android.bp, 그리고 system/sepolicy/apex 의 file_contexts. 키 4종은 강사가 각 계정에 미리 넣어 두었으니 ls 로 확인만 합니다.
m com.example.simple 후 deapexer list 로 안에 바이너리가 들어갔는지 봅니다. WinSCP 로 .apex 를 받아 remount 상태에서 /system/apex 에 push 하고 reboot 합니다.
재부팅 후 ls /apex 에 com.example.simple 과 @1 이 보이고, bin 아래 바이너리를 실행하면 Hello 가 나옵니다. mount 로 loop 마운트를, dumpsys apexservice 로 상태를 봅니다.
Step 7 의 오류 재현을 꼭 시키세요. file_contexts 를 모듈 안에 두면 나는 메시지와, compressible: true 를 넣으면 나는 메시지. 각각 1분이고, 나중에 이 메시지를 봤을 때 바로 원인을 아는 것이 목적입니다.
[흔한 문제] avbtool 은 lunch 후 PATH 에 들어옵니다. 키가 2048 비트면 실패하니 4096 확인. /apex 에 안 보이면 logcat -s apexd 에서 verify 실패를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55분]
실습 3, 35분. Android Studio 프로젝트 두 개. RROTarget 은 리소스 5개(문자열·색 2·drawable 2)와 overlayable.xml, RROOverlay 는 MainActivity 를 지우고 manifest 의 overlay 태그와 같은 이름의 리소스만. minSdk 는 34 여야 API 35 Emulator 에 설치됩니다.
두 APK 를 install 하고 cmd overlay list 에서 [ ] 를 확인한 뒤 enable. 앱을 force-stop 하고 다시 열면 보라 배경, 로켓 아이콘, 새 문자열. Step 4 계약 실험 — overlayable 에서 hello_world 를 빼고 재설치하면 문자열만 그대로. 이것이 RRO 의 본질입니다.
실습 4, 20분. ListOverlays 는 빌드 서버에서 mm 으로 .jar 를 만들어 WinSCP 로 받고 app_process 로 실행합니다. Android.bp 를 새로 만들었으면 Soong 이 한 번 재분석하니 강사가 미리 만들어 둔 계정이면 바로 됩니다. 출력에서 STATE_NO_IDMAP 이 cmd overlay 의 --- 입니다. SDK 에 없는 API 를 Framework 안에서 쓰는 법 — 진단 도구는 이렇게 만든다고 말하세요.
priority 충돌은 RROOverlay2 를 priority 2 로 하나 더 만들어 둘 다 enable. priority 2 의 문자열이 보이고 나머지는 1 의 것이 보입니다. 현장에서 "RRO 넣었는데 안 바뀐다" 의 흔한 원인입니다.
SRO 는 5분. productFlavors 두 개와 themed/res/values/colors.xml 하나. Build Variant 를 바꿔 Run. "빌드 시 vs 런타임" 한 문장으로 정리하고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2, 25분. SystemUI 를 두 층위로 봅니다. 리소스는 RRO(방금 본 것), 코드는 소스 수정. 그리고 SystemUI 의 바들이 결국 WMS 가 SF 에 만든 Layer 라는 것을 WindowManager 로 잇습니다. 애니메이션 5·6 번, 실습 5~9.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5 재생]
SystemUI 는 com.android.systemui 프로세스의 Java 앱입니다. 애니메이션 5 번을 재생하세요.
위 흐름은 Java 앱의 한 프레임입니다. swipe 가 deliverInputEvent 로 들어오고, Choreographer#doFrame 에서 UI Thread 가 measure/layout/draw 를 하고, RenderThread 가 GPU 명령을 만들어 BufferQueue 에 넣고, SurfaceFlinger 가 합성합니다. Day 3 의 Native 예제는 Thread 가 하나였는데 Java 앱은 둘입니다. Jank 가 나면 어느 Thread 가 느린지 두 트랙으로 가릅니다. dumpsys gfxinfo 의 Janky 퍼센트가 같은 것의 숫자판입니다. 실습 5·8.
아래 코드가 실습 7 의 QS 타일입니다. QSTileImpl 을 상속하고 handleClick 에서 상태를 바꾸고 refreshState, handleUpdateState 에서 label 과 icon 을 채웁니다. 생성자의 @Inject 인자 9개는 그대로 복사합니다.
등록이 두 곳. Dagger 의 @Binds @IntoMap @StringKey 로 spec 문자열과 클래스를 맵에 넣고, config.xml 의 기본 타일 목록에 cpuinfo 를 추가합니다. Dagger 등록을 빼면 SystemUI 가 크래시합니다. 실습 7 Step 6 에서 일부러 빼고 빌드해 logcat -s AndroidRuntime 에서 cpuinfo 를 찾게 합니다. "타일이 안 보여요" 의 답을 스스로 찾는 훈련입니다.
m SystemUI 로 APK 만 다시 빌드해 push 하고 killall. 이미지 재빌드 없음. 델타 배포표의 세 번째 줄입니다.
[참고] 상태바에 회사 상태를 넣는 요청은 status_bar.xml 에 TextView 상속 뷰를 놓고 Handler.postDelayed 로 갱신하는 패턴입니다. 실습 7 문서 끝에 참고 코드가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6 재생]
SystemUI 의 상태바가 왜 Day 3 의 dumpsys SurfaceFlinger --list 에 StatusBar#0 로 보였는지, 그 답이 WindowManager 입니다. 애니메이션 6 번을 재생하세요.
코드는 저장소 FloatingOverlayDemo 의 핵심입니다. LayoutParams 에 TYPE_APPLICATION_OVERLAY, 2038 번을 주고 windowManager.addView. 이것은 WMS 로 가는 Binder 호출입니다. WMS 의 addWindow 가 창 타입을 보고 호출자 uid 의 SYSTEM_ALERT_WINDOW 권한을 검사합니다. 없으면 BadTokenException. 권한 검사가 App 이 아니라 system_server 에서 일어난다는 점이 Day 2 실습 8 의 UID 검사, 오늘 실습 10 의 CarPropertyService 권한 검사와 같은 자리입니다.
통과하면 WMS 가 SF 에 createSurface 를 합니다. Day 3 실습 9 에서 우리가 직접 한 것을 WMS 가 대신 해 주는 것입니다. App 은 Surface 를 받아 View 를 그립니다. 그래서 dumpsys window windows 의 창과 dumpsys SurfaceFlinger --list 의 Layer 가 하나씩 대응합니다.
표의 창 타입 세 가지. Activity 창, 권한 있는 앱의 오버레이 창, 그리고 system UID 만 만들 수 있는 시스템 창. SystemUI 의 바들이 마지막 것입니다.
SplitScreenDemo 는 좌우 Fragment 분할이지만 Layer 는 하나입니다. View 계층의 일이니까요. 디스플레이가 다르면 — 클러스터, 뒷좌석 — Layer 스택이 다릅니다. 오늘은 dumpsys display 로 목록만 봅니다.
[실습 9 예고] appops 로 권한을 주고 창을 띄운 뒤, deny 로 바꿔 BadTokenException 을 재현합니다.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45분]
실습 5, 15분. 명령만 칩니다. dumpsys statusbar 의 섹션, 알림을 하나 발생시킨 뒤 notification 의 레코드 증가, Wi-Fi 를 끄고 켜며 아이콘 항목, gfxinfo 의 Janky 퍼센트. 실습 8 에서 Perfetto 로 같은 것을 그림으로 봅니다.
실습 6, 30분. 순서가 중요합니다. 먼저 cmd overlay list 에서 --- 와 dumpsys overlay 의 null 을 확인해 "왜 /system/app 인지" 를 스스로 보게 합니다. 그 다음 pm path 로 APK 경로, pull, aapt dump resources 로 이름 추출. Windows 에서 aapt 가 PATH 에 있어야 합니다.
SystemUIOverlay 프로젝트는 targetName 이 없는 manifest 와 colors.xml 뿐입니다. 문서의 colors.xml 을 그대로 복사해도 됩니다. remount 는 실습 1 에서 끝났으니 adb root; adb remount 후 mkdir, push, reboot. 재부팅 후 [ ] 가 보이면 enable, killall. 시계가 핑크로 바뀌면 성공.
바 배경이 안 바뀌는 것은 정상입니다. 투명 리소스 때문이라고 설명하세요.
[흔한 문제] 트러블슈팅 7항목이 문서에 있습니다. 대부분 remount 누락과 targetName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85분]
실습 7, 40분. 파일 세 개를 만들고 두 곳에 등록합니다. Dagger 등록 위치는 버전마다 달라 grep "StringKey(FlashlightTile.TILE_SPEC)" 으로 찾아 같은 형태로 추가합니다. m SystemUI 는 사전 빌드가 되어 있으면 수 분입니다. Car 타겟은 CarSystemUI.apk 가 system_ext/priv-app 에 나오니 그 경로로 push. killall 후 QS 패널에서 타일을 확인합니다.
Step 6 을 꼭 하세요. Dagger 블록을 주석 처리하고 빌드·교체하면 SystemUI 가 죽습니다. logcat -s AndroidRuntime 에서 cpuinfo 를 찾아 원인을 스스로 진단하고 원복합니다. 반응이 가장 좋은 단계입니다.
실습 8, 20분. 저장소의 cfg 를 push 하고 캡처 중 input swipe 로 QS 를 네 번 열고 닫습니다. UI 에서 doFrame 과 DrawFrames 가 다른 Thread 에 있는 것, Actual Timeline 의 Jank 를 봅니다. Day 3 실습 13 과 같은 조작이라 빠릅니다.
실습 9, 25분. FloatingOverlayDemo 를 Run 하고 appops 로 권한을 줍니다. dumpsys window 의 APPLICATION_OVERLAY 창과 SurfaceFlinger --list 의 Layer 를 대응시키고, deny 로 바꿔 BadTokenException 을 재현합니다. SplitScreenDemo 는 Run 후 --list 에 Layer 가 하나인 것만 확인. 5분.
[시간 관리] 실습 7 이 길어지면 실습 8 을 10분으로 줄입니다. 실습 9 는 짧게라도 전원이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3, 35분. 새로운 것은 이름뿐입니다. CarService 는 Day 2 실습 11 의 Java System Service, VHAL 은 Day 2 실습 10 의 AIDL HAL, 권한 검사는 실습 8 의 getCallingUid. 그 위에 Vehicle Property 라는 데이터 모델과 CarPropertyManager API, 그리고 차 없이 재현하는 도구 두 개. 애니메이션 7·8 번, 실습 10~13.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9분, 애니메이션 7 재생]
Automotive 의 네 상자입니다. 애니메이션 7 번을 재생하세요.
App 은 Car.createCar 로 CarService 에 Binder 연결하고 getCarManager 로 CarPropertyManager 를 얻습니다. CarService 는 com.android.car 프로세스, uid system, service list 에 car_service: [android.car.ICar] 로 보입니다. 안에 CarPropertyService 와 PropertyHalService 가 있습니다. VHAL 은 vendor 의 AIDL HAL, 이름이 android.hardware.automotive.vehicle.IVehicle/default. 차량 버스는 Emulator 에서 FakeVehicleHardware 가 흉내 냅니다.
표를 보세요. Day 2 규칙이 이름만 바뀌어 그대로 있습니다. Java System Service 가 CarService, AIDL HAL 이 VHAL, getCallingUid 권한 검사가 CarPropertyService 의 HVAC → CONTROL_CAR_CLIMATE 매핑, App 은 HAL 을 직접 못 부르고, 콜백은 Binder Thread 로 옵니다. 실습 10 에서 이 표를 하나씩 확인합니다.
오른쪽 아래 두 명령이 차 없이 재현하는 도구입니다. VHAL --set 은 VHAL 의 값 자체를 바꿔 위로 전파되고, cmd car_service inject-vhal-event 는 CarService 에만 이벤트를 넣습니다. day-night-mode night 을 치면 화면이 즉시 다크 테마로 바뀝니다. 실습 10·12 에서 두 경로의 차이를 봅니다.
[질문] "App 이 VHAL 을 직접 부르면 어떻게 될까요?" — Day 2 실습 12 와 같습니다. uid 검사에서 거부되거나 SELinux 에 막힙니다. 권한 검사 지점을 CarService 한 곳으로 모으는 설계입니다.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10분]
CarPropertyManager API 와 Vehicle Property 데이터 모델입니다.
위 코드가 실습 11 의 골격입니다. Car.createCar 는 비동기라 콜백에서 ready 가 true 일 때만 CarPropertyManager 를 씁니다. getCarPropertyConfig 로 areaIds 와 min/max 를 먼저 읽습니다. Emulator 의 HVAC 온도 areaId 는 1 이 아니라 좌석 그룹 49 와 68 입니다. 이것을 모르고 1 을 넣으면 IllegalArgumentException 입니다. getProperty, setProperty 는 동기 Binder 로 CarService 를 거쳐 VHAL 까지 갑니다. subscribePropertyEvents 의 onChangeEvent 는 Binder Thread 로 오니 runOnUiThread — 어제와 같습니다.
아래 표는 속성 ID 의 비트 구조입니다. HVAC_TEMPERATURE_SET 0x15600503 을 쪼개면 Group SYSTEM, Area SEAT, Type FLOAT, ID 0x503. vendor 속성은 Group 이 0x2 입니다. 이 구조를 알면 처음 보는 ID 도 대략 읽힙니다.
권한 상자. CAR_SPEED 는 dangerous 라 pm grant 로 됩니다. CONTROL_CAR_CLIMATE 는 signature|privileged 라 pm grant 가 안 되고, /system/priv-app 에 설치하고 privapp-permissions xml 로 허용해야 합니다. 실습 11 에서 이 방식으로 설치합니다. 거부되면 logcat -s CarPropertyService 에 필요한 권한 이름이 찍힙니다. 실습 10·12 에서 일부러 거부를 만들고 추적합니다. 현장 질문 1위입니다.
[질문] "값이 안 바뀌는데 setProperty 는 성공했어요" — VHAL 이 값을 확정한 뒤 onChangeEvent 로 알려 줍니다. UI 는 콜백에서 갱신해야지 setProperty 직후 로컬 변수를 바꾸면 어긋납니다. 실습 11 코드가 그렇게 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30분]
실습 10 은 명령으로 확인만 합니다. 코드가 없습니다.
Step 1~3: service list 에서 car_service 와 IVehicle/default, ps 로 uid, dumpsys car_service --hal, VHAL --list 와 --get, manifest.xml 의 VHAL 항목. 문서의 표로 Day 2 실습 10 과 대조합니다. "이름 규칙, vendor, NDK, VINTF 네 가지가 그대로" 를 확인하는 것입니다.
Step 4 가 반응이 좋습니다. cmd car_service day-night-mode night 을 치면 Launcher 와 SystemUI 가 즉시 다크로 바뀝니다. inject-vhal-event 로 속도 60 을 넣으면 클러스터 표시가 바뀝니다. "차 없이 시나리오를 재현한다" 가 이 명령의 가치라고 말하세요.
Step 5 권한 추적. Kitchen Sink 의 CAR_SPEED 를 revoke 하고 속도를 읽으면 실패합니다. logcat -s CarPropertyService 에서 "requires android.car.permission.CAR_SPEED" 를 찾고, pm list permissions -g 로 종류를 확인하고 grant 로 복구. 이 절차가 실습 12 에서 privileged 권한으로 한 번 더 반복됩니다.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60분]
실습 11, 35분. 저장소 HvacSimulator 를 먼저 그대로 Run 해 가짜 값임을 봅니다. 그 다음 build.gradle.kts 에 useLibrary("android.car"), manifest 에 uses-library 와 CONTROL_CAR_CLIMATE, MainActivity 에 문서의 코드를 넣습니다. 핵심은 세 곳. createCar 콜백에서만 pm 사용, getCarPropertyConfig 로 areaIds 를 읽어 49/68 을 쓰는 것, 콜백에서 runOnUiThread.
설치는 priv-app 입니다. CONTROL_CAR_CLIMATE 가 privileged 라 pm grant 가 안 됩니다. APK 를 /system/priv-app/HvacSimulator/ 에 push 하고 privapp-permissions xml 을 /system/etc/permissions/ 에 넣고 reboot. dumpsys package 에서 granted=true 를 확인합니다. 이후 코드 수정은 push 로 덮어쓰기만, adb install 은 쓰지 않습니다.
실습 12, 25분. cmd 두 개. 하나는 logcat -s HvacSim CarPropertyService PropertyHalService VehicleHal, 다른 하나에서 VHAL --set. 로그에 VehicleHal → CarPropertyService → HvacSim onChangeEvent 순서가 찍히고 앱 UI 가 25.0 으로 바뀝니다. inject-vhal-event 후 --get 이 이전 값인 것으로 두 경로의 차이를 봅니다. Kitchen Sink 에서 바꿔도 동기화.
실패 재현 세 가지 — 범위 밖 50.0, areaId 0, runOnUiThread 제거 — 각각 예외 메시지를 확인하고 원복. 마지막으로 xml 을 치우고 reboot 해 SecurityException 을 만들고, 로그에서 권한 이름을 찾아 복구합니다.
[시간 관리] 실습 11 이 늦어지면 실습 12 의 실패 재현은 두 가지만.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25분, 애니메이션 8 재생]
마지막 실습입니다. 애니메이션 8 번을 먼저 재생하세요. 여섯 개 트랙 위로 화살표가 이어집니다.
cfg 는 Day 3 의 것에 aidl 카테고리와 두 앱을 추가한 day4_car.cfg 입니다. 캡처 8초 동안 HvacSimulator 의 온도 버튼을 세 번 누릅니다. pull 해서 UI 에서 hvacsimulator, com.android.car, automotive.vehicle, surfaceflinger 네 프로세스를 핀 합니다.
표의 순서대로 클릭합니다. ① 앱 main 의 binder transaction, aidl 이름이 ICarProperty::setProperty. Day 1 의 Java AIDL Proxy. ② com.android.car 의 Binder Thread 에서 binder reply, CarPropertyService. Day 2 실습 11. ③ 같은 Thread 안에서 IVehicle::setValues transaction 이 VHAL 로. Day 2 실습 10. ④ VHAL 이 onPropertyEvent 로 CarService 에 역방향. Day 1 실습 9 의 Callback. ⑤ CarService 가 앱의 Binder Thread 로 onChangeEvent. Looper 가 없는 Thread, Day 3 실습 6. ⑥ runOnUiThread 로 main 의 doFrame, RenderThread. Day 3 의 Looper 와 오늘 실습 8. ⑦ SurfaceFlinger. Day 3.
Flow events 탭에서 화살표 목록을 확인하고, Day 3 실습 13 의 SQL 로 binder 쌍의 dur_us 를 뽑아 "버튼 한 번에 Binder 왕복 몇 번, 총 몇 ms" 를 각자 적습니다.
[마무리] 이 트레이스 한 장이 4일의 지도입니다. 현장에서 "느리다" 는 말이 나오면 이 그림의 어느 구간인지부터 찾으라고 하세요. 총정리에서 각자 캡처한 화면을 띄운 채 이야기합니다.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20분]
총정리입니다. 각자 실습 13 의 트레이스를 띄워 둔 채로 진행합니다.
먼저 4일을 그 트레이스 위에 놓습니다. Day 1 Java AIDL 은 ① 과 ④ 의 Proxy 와 Callback. Day 2 Native Binder·HAL·SELinux 는 ② ③ 의 CarService 와 VHAL, 그리고 권한 검사. Day 3 libutils·JNI·SurfaceFlinger·공유 메모리는 ⑤ ⑥ ⑦ 의 Binder Thread, Looper, RenderThread, SF. Day 4 는 그 위의 SystemUI·RRO·APEX 와 Automotive 계층.
표는 "안 될 때 보는 순서" 입니다. 4일간 쓴 도구를 진단 순서로 재배열했습니다. 크래시 로그 → 서비스 dumpsys → 매칭/등록 → SELinux → remount → 권한 → Perfetto. 각 줄 옆에 어느 날 어느 실습에서 썼는지 있으니 기억을 되살리며 읽어 주세요.
슬라이드 5 의 델타 배포 판단표와 이 카드 두 장이 오늘 가져가는 것입니다.
오른쪽 초록 상자는 현장 적용 제안입니다. 우리 제품의 SystemUI 색을 RRO 하나로 바꿔 보기, 우리 HAL 의 속성 하나를 CarPropertyManager 로 읽는 앱, 서비스 하나를 Perfetto 로 캡처해 왕복 시간을 적어 보기. 한 달 안에 이 셋을 해 보면 4일이 몸에 남습니다.
질의응답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Worksheet 20분]
마지막 Worksheet 입니다. 버튼으로 Day4_Worksheet.html 을 엽니다.
Q18 Car SystemUI RRO 절차는 애니메이션 4 번을, Q19 온도 버튼 경로는 애니메이션 8 번을, Q20 델타 배포 선잇기는 슬라이드 5 를 띄워 놓고 풀이하면 됩니다.
15분 후 정답·해설 모두 보기로 풀이하고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마무리 3분]
4일을 한 장으로 닫습니다.
Day 1, Binder 는 code 와 Parcel 이라는 것, Zygote 가 fork 한다는 것, AIDL 의 Stub 과 Proxy, DeathRecipient, 1 MB Buffer 와 FD.
Day 2, 그 Bn/Bp 를 C++ 로 손으로 써 보고 aidl_interface 가 대신 써 주는 것을 확인, getCallingUid, init.rc 와 SELinux, AIDL HAL 과 VINTF.
Day 3, sp 와 Thread 와 Looper 를 밑에서부터, JNI, SurfaceFlinger 의 BufferQueue, pipe·ashmem·memfd, LMKD.
Day 4, 델타 배포 판단표, APEX, RRO 계약, Car SystemUI, QS 타일, WMS 창, CarService 에서 VHAL 까지, 그리고 버튼 한 번의 flow.
그리고 도구. adb shell, dumpsys, service, cmd, ftrace, strace, Perfetto. "안 될 때 보는 순서" 카드로 정리했습니다.
실습 디렉토리와 Emulator 이미지는 지우지 마세요. 현장 적용 제안 세 가지를 한 달 안에 해 보시면 오늘 배운 것이 남습니다.
[마무리 확인] 실습 13 트레이스에서 flow 화살표 6개 이상 본 분 손 들어 주세요.
4일간 수고하셨습니다.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5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6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4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hyperlink" Target="Day4_Animation.html#s6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7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7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Day4_Animation.html#s8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Day4_Worksheet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7248FC-5D92-4D86-922F-97DA1666F5EE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</a:t>
            </a:r>
            <a:endParaRPr sz="3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440F0B-E6C0-4381-B0EA-7F61F5D07992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4 — APEX · RRO · SystemUI · WindowManager · Android Automotive</a:t>
            </a:r>
            <a:endParaRPr sz="1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01AED8-F08A-493C-BD53-8B56A8921168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이미지를 다시 굽지 않고 시스템을 바꾸는 법 → Car SystemUI 커스터마이징 → CarService · CarPropertyManager · VHAL → 버튼 한 번을 Perfetto 로 4일 전체 잇기</a:t>
            </a:r>
            <a:endParaRPr sz="13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32320" y="1463106"/>
            <a:ext cx="4389120" cy="39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9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8FC27A-F6DB-47A8-ACA0-6AF55D109FB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4C8851-65DA-4D3B-8F34-D2A8DE4124FD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F86A8D-078B-46E5-B588-2F1091CF042E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오늘의 일정 — 8시간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17E2A7-FD77-4DCD-BA7B-76D81F37BFC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420B74-6B6A-451D-BC1A-019E188B36FA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</a:t>
            </a:r>
            <a:endParaRPr sz="900"/>
          </a:p>
        </p:txBody>
      </p:sp>
      <p:graphicFrame>
        <p:nvGraphicFramePr>
          <p:cNvPr id="19" name="Table 0"/>
          <p:cNvGraphicFramePr/>
          <p:nvPr/>
        </p:nvGraphicFramePr>
        <p:xfrm>
          <a:off x="457200" y="1737360"/>
          <a:ext cx="7589520" cy="1859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내용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소요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0 환경 실습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1 writable-system · 2단계 remount · aapt · 실습 디렉토리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15분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1 강의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Ch 1 시스템을 바꾸는 세 가지(APEX·RRO/SRO·소스) · Ch 2 SystemUI·WindowManager · Ch 3 Automotive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90분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2 실습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2~13 (APEX → RRO → ListOverlays → dumpsys → Car SystemUI RRO → QS 타일 → Perfetto → WMS 앱 → Automotive 계층 → HVAC 연동 → VHAL 조작 → 버튼 한 번 flow)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335분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3 정리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4일 총정리 · Worksheet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40분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376E84EC-7B9C-4F7A-90F0-1B38BE4365B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EDF2BC1-904D-4CE4-8A03-6E2286D94800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오늘의 축: 실습 2·3·7 = 이미지 없이 바꾸는 세 가지 · 실습 6·7 = 같은 SystemUI 를 리소스/코드로 · 실습 10~13 = Day 2 규칙이 Automotive 에 그대로</a:t>
            </a:r>
            <a:endParaRPr sz="140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21040" y="1737875"/>
            <a:ext cx="3383280" cy="274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5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459A46-E433-46B1-A05F-F1F3411135F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A91C46-3D6F-4688-BB78-808F59B5696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0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9CB02E-57F5-44EB-B912-5E7E623ACDDB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0 · 실습 1 — writable-system · 2단계 remount · aapt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333245-EADD-45AD-9669-50B598BFB27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1B88F7-19B3-43EB-AA73-05674B788358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44A1682-13DA-4150-8DFE-05ACA40A2685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769D007-AC18-4F4E-8CF2-B5BD66DC77C2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4DAE975-1675-4353-82A2-BC0F1E9D944C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C6B8656-B176-48DF-8F76-7DE06E128187}"/>
              </a:ext>
            </a:extLst>
          </p:cNvPr>
          <p:cNvSpPr>
            <a:spLocks noGrp="1"/>
          </p:cNvSpPr>
          <p:nvPr/>
        </p:nvSpPr>
        <p:spPr>
          <a:xfrm>
            <a:off x="1371600" y="184708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Emulator -writable-system 부팅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412CA38-F753-466A-BC91-580F73A71307}"/>
              </a:ext>
            </a:extLst>
          </p:cNvPr>
          <p:cNvSpPr>
            <a:spLocks noGrp="1"/>
          </p:cNvSpPr>
          <p:nvPr/>
        </p:nvSpPr>
        <p:spPr>
          <a:xfrm>
            <a:off x="1371600" y="22128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bat 파일에 -writable-system 확인</a:t>
            </a:r>
            <a:endParaRPr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505385F-335E-4C6F-84A6-44A0D967EE5C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8B3D1B2-454C-4CD0-9B93-940B327623E7}"/>
              </a:ext>
            </a:extLst>
          </p:cNvPr>
          <p:cNvSpPr>
            <a:spLocks noGrp="1"/>
          </p:cNvSpPr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E0669F-B1BD-4DAE-8235-9EF34947EB9A}"/>
              </a:ext>
            </a:extLst>
          </p:cNvPr>
          <p:cNvSpPr>
            <a:spLocks noGrp="1"/>
          </p:cNvSpPr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A33DE29-7301-498F-960D-11DA94FA5E0C}"/>
              </a:ext>
            </a:extLst>
          </p:cNvPr>
          <p:cNvSpPr>
            <a:spLocks noGrp="1"/>
          </p:cNvSpPr>
          <p:nvPr/>
        </p:nvSpPr>
        <p:spPr>
          <a:xfrm>
            <a:off x="1371600" y="294436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2단계 remount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5119C01-BBE2-4916-8C0E-F20AD6D29DEC}"/>
              </a:ext>
            </a:extLst>
          </p:cNvPr>
          <p:cNvSpPr>
            <a:spLocks noGrp="1"/>
          </p:cNvSpPr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adb root → remount(verity 해제) → reboot → root → remount → remount succeeded</a:t>
            </a:r>
            <a:endParaRPr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B6032D3-EBD4-42EE-A5D9-A65CB10082EE}"/>
              </a:ext>
            </a:extLst>
          </p:cNvPr>
          <p:cNvSpPr>
            <a:spLocks noGrp="1"/>
          </p:cNvSpPr>
          <p:nvPr/>
        </p:nvSpPr>
        <p:spPr>
          <a:xfrm>
            <a:off x="457200" y="393192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F7D884F-D451-4D88-B3A2-EBA92B9DB6F9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BBD7453-B64E-47F5-AEE8-A34A93DD7A3A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4D07118-CAE0-457B-9A31-20C5C7D084A5}"/>
              </a:ext>
            </a:extLst>
          </p:cNvPr>
          <p:cNvSpPr>
            <a:spLocks noGrp="1"/>
          </p:cNvSpPr>
          <p:nvPr/>
        </p:nvSpPr>
        <p:spPr>
          <a:xfrm>
            <a:off x="1371600" y="40416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aapt PATH</a:t>
            </a:r>
            <a:endParaRPr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90D1947-8A96-4A3D-83F4-1F24191BBDD7}"/>
              </a:ext>
            </a:extLst>
          </p:cNvPr>
          <p:cNvSpPr>
            <a:spLocks noGrp="1"/>
          </p:cNvSpPr>
          <p:nvPr/>
        </p:nvSpPr>
        <p:spPr>
          <a:xfrm>
            <a:off x="1371600" y="440740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%LOCALAPPDATA%\Android\Sdk\build-tools\35.0.0 (실습 6)</a:t>
            </a:r>
            <a:endParaRPr sz="11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0A89FDC-F694-4383-8FFC-CCE91F24418B}"/>
              </a:ext>
            </a:extLst>
          </p:cNvPr>
          <p:cNvSpPr>
            <a:spLocks noGrp="1"/>
          </p:cNvSpPr>
          <p:nvPr/>
        </p:nvSpPr>
        <p:spPr>
          <a:xfrm>
            <a:off x="457200" y="502920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8C27D6E-3AD3-4FD4-9E55-C1DE51905F43}"/>
              </a:ext>
            </a:extLst>
          </p:cNvPr>
          <p:cNvSpPr>
            <a:spLocks noGrp="1"/>
          </p:cNvSpPr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4F6FD51-C844-4BAC-955E-3D372876352F}"/>
              </a:ext>
            </a:extLst>
          </p:cNvPr>
          <p:cNvSpPr>
            <a:spLocks noGrp="1"/>
          </p:cNvSpPr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688D634-8E15-4E37-ABA4-35FCB50BDC65}"/>
              </a:ext>
            </a:extLst>
          </p:cNvPr>
          <p:cNvSpPr>
            <a:spLocks noGrp="1"/>
          </p:cNvSpPr>
          <p:nvPr/>
        </p:nvSpPr>
        <p:spPr>
          <a:xfrm>
            <a:off x="1371600" y="51389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디렉토리 · 프로젝트</a:t>
            </a:r>
            <a:endParaRPr sz="15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C861FC5-8115-47A0-A605-B37DAB0A5B43}"/>
              </a:ext>
            </a:extLst>
          </p:cNvPr>
          <p:cNvSpPr>
            <a:spLocks noGrp="1"/>
          </p:cNvSpPr>
          <p:nvPr/>
        </p:nvSpPr>
        <p:spPr>
          <a:xfrm>
            <a:off x="1371600" y="550468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simple_apex(키 4종 확인) · RRO_test/overlay_list · zip 3종 Gradle sync</a:t>
            </a:r>
            <a:endParaRPr sz="11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DEC3B4F-7146-4625-BC63-451265504A1A}"/>
              </a:ext>
            </a:extLst>
          </p:cNvPr>
          <p:cNvSpPr>
            <a:spLocks noGrp="1"/>
          </p:cNvSpPr>
          <p:nvPr/>
        </p:nvSpPr>
        <p:spPr>
          <a:xfrm>
            <a:off x="457200" y="612648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소요 15분 · remount succeeded 가 실습 2·6·7·11 의 전제</a:t>
            </a:r>
            <a:endParaRPr sz="1100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0497" y="1737360"/>
            <a:ext cx="3472926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2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95AF68-BA3B-42FE-B51B-EB54BDAA4F76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662A71-77A8-4AB8-A021-5452FC15D1FD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81CC02-2E7B-4B7B-BD89-FCD1CC53F460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시스템을 바꾸는 세 가지 방법 — APEX · RRO / SRO · 소스 수정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76604B-7F7C-4EAC-B93D-9934DDBD5DF6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30분 · 델타 배포 판단표 · APEX 구조 · RRO 계약과 매칭 · Car SystemUI 특수성 · SRO · 변경이 안 먹을 때 체크리스트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4B9D4C-9597-455E-B13A-59A36EE2C83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049F5F-B221-4C3C-8663-DDB95BA967C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0E1982-A27C-4E64-8B39-07D0D484C46E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델타 배포 판단표 — "이미지 다시 구워야 하나요?"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B408A6-6236-45F3-9373-2EBA16A6C75F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D0CFC9-193C-41B1-8D47-09380193714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5</a:t>
            </a:r>
            <a:endParaRPr sz="900"/>
          </a:p>
        </p:txBody>
      </p:sp>
      <p:graphicFrame>
        <p:nvGraphicFramePr>
          <p:cNvPr id="21" name="Table 0"/>
          <p:cNvGraphicFramePr/>
          <p:nvPr/>
        </p:nvGraphicFramePr>
        <p:xfrm>
          <a:off x="457200" y="1737360"/>
          <a:ext cx="7498080" cy="1981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바꾸는 것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필요한 절차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시간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오늘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Native 바이너리 · .so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 &lt;모듈&gt; + adb push /data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수십 초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2·3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Java 리소스 (색·문자열·drawable·config)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RRO — APK 설치 + cmd overlay enable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분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3·6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시스템 앱 코드 (SystemUI)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 SystemUI + APK push(remount) + killall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수 분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7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독립 배포 모듈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APEX — .apex push + reboot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수 분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2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init.rc · sepolicy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init_rc 는 push, .te 는 정책 리빌드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경계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 실습 9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커널 · 기본 탑재 RRO · VHAL 속성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 emu_img_zip + Emulator 재시작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수십 분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1 실습 13</a:t>
                      </a:r>
                      <a:endParaRPr sz="11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681EDE94-F892-488C-9C75-4AB5F4605AA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7498080" cy="1097280"/>
          </a:xfrm>
          <a:prstGeom prst="roundRect">
            <a:avLst>
              <a:gd name="adj" fmla="val 8333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91E6015-DA22-4AF4-B49A-0D0BC71471D4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이미지를 다시 굽는 것은 마지막 줄뿐이다. 나머지는 push · install · enable 로 끝난다.</a:t>
            </a:r>
            <a:endParaRPr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222AEC5-849C-4143-BCA0-2536CE902B09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70E0D8A-E347-4AF5-8EBB-4CBCDFA4A52C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1 · 델타 배포 판단표</a:t>
            </a:r>
            <a:endParaRPr sz="115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29600" y="1737527"/>
            <a:ext cx="3474720" cy="25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7C1532-EB29-4214-BFF7-4DD525B3A61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D6471A-95F2-412F-8249-AB664B86E23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1FE18E-A279-4717-88B3-266F13097C2A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APEX — 모듈을 파일시스템 이미지로 묶다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3678B3-6144-466B-A5F7-32AE0CD37AE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D7D4FF-68B5-419A-8C77-5C420CFE6668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6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56C165-9870-4DE6-80C6-0FF028608014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6766560" cy="2468880"/>
          </a:xfrm>
          <a:prstGeom prst="roundRect">
            <a:avLst>
              <a:gd name="adj" fmla="val 2963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5AF780-0302-4E4E-83B1-E23D29C89D1F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6547104" cy="232257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apex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name: "com.example.simple",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manifest: "apex_manifest.json",          // name · version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binaries: ["simple_apex_binary"],       // cc_binary { apex_available: [...]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key: "com.example.simple.key",           // apex_key: .pem + .avbpubkey  (AVB)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certificate: ":com.example.simple.certificate",   // .pk8 + .x509.pem  (APK)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updatable: false,                       // 이미지 내장 — compressible 불가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file_contexts 는 명시하지 않는다 → system/sepolicy/apex/com.example.simple-file_contexts</a:t>
            </a:r>
            <a:endParaRPr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FBF037A-ECD1-4E3E-B321-D3E97872D090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B7BD1E-0CC2-48F0-AA4C-E0E2E3D46238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16002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com.example.simple</a:t>
            </a:r>
            <a:endParaRPr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0ED9FDB-858C-4751-A909-088D4AE1B7F1}"/>
              </a:ext>
            </a:extLst>
          </p:cNvPr>
          <p:cNvSpPr>
            <a:spLocks noGrp="1"/>
          </p:cNvSpPr>
          <p:nvPr/>
        </p:nvSpPr>
        <p:spPr>
          <a:xfrm>
            <a:off x="457200" y="498348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$OUT/system/apex/*.apex</a:t>
            </a:r>
            <a:endParaRPr sz="9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630DEE2-9AE9-4E3A-8484-16219EA39C8A}"/>
              </a:ext>
            </a:extLst>
          </p:cNvPr>
          <p:cNvSpPr>
            <a:spLocks noGrp="1"/>
          </p:cNvSpPr>
          <p:nvPr/>
        </p:nvSpPr>
        <p:spPr>
          <a:xfrm>
            <a:off x="2075688" y="452628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D6A358-4920-431C-8FE6-D5B75F8B2CEB}"/>
              </a:ext>
            </a:extLst>
          </p:cNvPr>
          <p:cNvSpPr>
            <a:spLocks noGrp="1"/>
          </p:cNvSpPr>
          <p:nvPr/>
        </p:nvSpPr>
        <p:spPr>
          <a:xfrm>
            <a:off x="2194560" y="438912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3B8EC3-8ECD-4D81-A243-5A376DD95DD5}"/>
              </a:ext>
            </a:extLst>
          </p:cNvPr>
          <p:cNvSpPr>
            <a:spLocks noGrp="1"/>
          </p:cNvSpPr>
          <p:nvPr/>
        </p:nvSpPr>
        <p:spPr>
          <a:xfrm>
            <a:off x="2194560" y="4389120"/>
            <a:ext cx="16002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push /system/apex + reboot</a:t>
            </a:r>
            <a:endParaRPr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E6603E-97D3-40FA-8EBA-FCED835D4627}"/>
              </a:ext>
            </a:extLst>
          </p:cNvPr>
          <p:cNvSpPr>
            <a:spLocks noGrp="1"/>
          </p:cNvSpPr>
          <p:nvPr/>
        </p:nvSpPr>
        <p:spPr>
          <a:xfrm>
            <a:off x="2194560" y="498348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remount 상태</a:t>
            </a:r>
            <a:endParaRPr sz="9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9241EDE-4B25-4E35-8879-3EE9B51D922A}"/>
              </a:ext>
            </a:extLst>
          </p:cNvPr>
          <p:cNvSpPr>
            <a:spLocks noGrp="1"/>
          </p:cNvSpPr>
          <p:nvPr/>
        </p:nvSpPr>
        <p:spPr>
          <a:xfrm>
            <a:off x="3813048" y="452628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A44BA82-001F-40D7-8181-321467D7592A}"/>
              </a:ext>
            </a:extLst>
          </p:cNvPr>
          <p:cNvSpPr>
            <a:spLocks noGrp="1"/>
          </p:cNvSpPr>
          <p:nvPr/>
        </p:nvSpPr>
        <p:spPr>
          <a:xfrm>
            <a:off x="3931920" y="438912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42F898C-95BA-4679-8D52-49DCF8BD4574}"/>
              </a:ext>
            </a:extLst>
          </p:cNvPr>
          <p:cNvSpPr>
            <a:spLocks noGrp="1"/>
          </p:cNvSpPr>
          <p:nvPr/>
        </p:nvSpPr>
        <p:spPr>
          <a:xfrm>
            <a:off x="3931920" y="4389120"/>
            <a:ext cx="16002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apexd 검증 · loop mount</a:t>
            </a:r>
            <a:endParaRPr sz="1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F5DDB22-64BF-4D99-B5D7-543E848A3988}"/>
              </a:ext>
            </a:extLst>
          </p:cNvPr>
          <p:cNvSpPr>
            <a:spLocks noGrp="1"/>
          </p:cNvSpPr>
          <p:nvPr/>
        </p:nvSpPr>
        <p:spPr>
          <a:xfrm>
            <a:off x="3931920" y="498348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/apex/&lt;name&gt;@&lt;ver&gt;</a:t>
            </a:r>
            <a:endParaRPr sz="9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7DADDFC-0DAC-4DB9-9DCC-929A27DDDF0A}"/>
              </a:ext>
            </a:extLst>
          </p:cNvPr>
          <p:cNvSpPr>
            <a:spLocks noGrp="1"/>
          </p:cNvSpPr>
          <p:nvPr/>
        </p:nvSpPr>
        <p:spPr>
          <a:xfrm>
            <a:off x="5550408" y="452628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07978D3-B7CD-4C9E-A7B5-449D132D0288}"/>
              </a:ext>
            </a:extLst>
          </p:cNvPr>
          <p:cNvSpPr>
            <a:spLocks noGrp="1"/>
          </p:cNvSpPr>
          <p:nvPr/>
        </p:nvSpPr>
        <p:spPr>
          <a:xfrm>
            <a:off x="5669280" y="438912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3C1B14-0933-4D6E-B244-4A0FD0E715BA}"/>
              </a:ext>
            </a:extLst>
          </p:cNvPr>
          <p:cNvSpPr>
            <a:spLocks noGrp="1"/>
          </p:cNvSpPr>
          <p:nvPr/>
        </p:nvSpPr>
        <p:spPr>
          <a:xfrm>
            <a:off x="5669280" y="4389120"/>
            <a:ext cx="16002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/apex/…/bin/ 실행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2B7C7E1-F1F5-4E01-8B91-7889BC7CDC7B}"/>
              </a:ext>
            </a:extLst>
          </p:cNvPr>
          <p:cNvSpPr>
            <a:spLocks noGrp="1"/>
          </p:cNvSpPr>
          <p:nvPr/>
        </p:nvSpPr>
        <p:spPr>
          <a:xfrm>
            <a:off x="5669280" y="498348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apexservice</a:t>
            </a:r>
            <a:endParaRPr sz="9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BCC5583-DF36-4CB5-8676-B87182469271}"/>
              </a:ext>
            </a:extLst>
          </p:cNvPr>
          <p:cNvSpPr>
            <a:spLocks noGrp="1"/>
          </p:cNvSpPr>
          <p:nvPr/>
        </p:nvSpPr>
        <p:spPr>
          <a:xfrm>
            <a:off x="7498080" y="4114800"/>
            <a:ext cx="4206240" cy="13716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서명 두 벌: AVB(부팅 검증) + APK(패키지)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file_contexts 위치가 틀리면 should be under system/sepolicy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updatable:false + compressible:true → 빌드 오류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Mainline(ART·Media·Wi-Fi)이 이 형식으로 Play 업데이트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1BB5F71-A7F1-4486-BA15-F1779F7A013C}"/>
              </a:ext>
            </a:extLst>
          </p:cNvPr>
          <p:cNvSpPr>
            <a:spLocks noGrp="1"/>
          </p:cNvSpPr>
          <p:nvPr/>
        </p:nvSpPr>
        <p:spPr>
          <a:xfrm>
            <a:off x="7498080" y="5577840"/>
            <a:ext cx="42062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DB3C8CB-4709-40A9-BC8C-4EC4F2754A6E}"/>
              </a:ext>
            </a:extLst>
          </p:cNvPr>
          <p:cNvSpPr>
            <a:spLocks noGrp="1"/>
          </p:cNvSpPr>
          <p:nvPr/>
        </p:nvSpPr>
        <p:spPr>
          <a:xfrm>
            <a:off x="7498080" y="557784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2 · APEX</a:t>
            </a:r>
            <a:endParaRPr sz="115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8080" y="1737533"/>
            <a:ext cx="4206240" cy="228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9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E8EBC2-07AE-459C-83DA-31CE61CEFA5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5824AC-1886-40A7-9ACF-F2AE43D916E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6477D7-620E-4F1D-AE7D-CD1184A3BC57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RRO — 세 당사자의 계약: overlayable · overlay · OverlayManager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9EAE57-677A-4EEC-A15E-A2F27D9A9C07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E4657A-E46B-4EF9-87A4-ABA46DEBA646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7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B603D2-38F7-42BD-A4A0-829406150AAE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B9664E-8EA6-4F53-BACA-A4863AAD5284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347472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타겟 앱 — overlayable.xml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B2A224C-0592-4EEE-8FA9-50CD73E3298E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A63441-022F-4A55-A582-DAC5C07D5FED}"/>
              </a:ext>
            </a:extLst>
          </p:cNvPr>
          <p:cNvSpPr>
            <a:spLocks noGrp="1"/>
          </p:cNvSpPr>
          <p:nvPr/>
        </p:nvSpPr>
        <p:spPr>
          <a:xfrm>
            <a:off x="566928" y="2450592"/>
            <a:ext cx="3255264" cy="122529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&lt;overlayable name="RROTargetTheme"&gt;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&lt;policy type="public"&gt;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&lt;item type="string" name="hello_world"/&gt;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&lt;item type="drawable" name="ic_target_icon"/&gt;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&lt;/policy&gt;&lt;/overlayable&gt;</a:t>
            </a:r>
            <a:endParaRPr sz="9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B0A3FCD-2A02-44BD-A83C-58AEC868168C}"/>
              </a:ext>
            </a:extLst>
          </p:cNvPr>
          <p:cNvSpPr>
            <a:spLocks noGrp="1"/>
          </p:cNvSpPr>
          <p:nvPr/>
        </p:nvSpPr>
        <p:spPr>
          <a:xfrm>
            <a:off x="4206240" y="17830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0BD628-984B-4591-9E50-749F3CD0BCEA}"/>
              </a:ext>
            </a:extLst>
          </p:cNvPr>
          <p:cNvSpPr>
            <a:spLocks noGrp="1"/>
          </p:cNvSpPr>
          <p:nvPr/>
        </p:nvSpPr>
        <p:spPr>
          <a:xfrm>
            <a:off x="4206240" y="1783080"/>
            <a:ext cx="347472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오버레이 APK — &lt;overlay&gt; (hasCode=false)</a:t>
            </a:r>
            <a:endParaRPr sz="1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C10F29-E4E9-4A9F-8CB7-6F0FC47320EE}"/>
              </a:ext>
            </a:extLst>
          </p:cNvPr>
          <p:cNvSpPr>
            <a:spLocks noGrp="1"/>
          </p:cNvSpPr>
          <p:nvPr/>
        </p:nvSpPr>
        <p:spPr>
          <a:xfrm>
            <a:off x="4206240" y="23774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FCE366F-C944-44F3-B681-F21ECAB785A5}"/>
              </a:ext>
            </a:extLst>
          </p:cNvPr>
          <p:cNvSpPr>
            <a:spLocks noGrp="1"/>
          </p:cNvSpPr>
          <p:nvPr/>
        </p:nvSpPr>
        <p:spPr>
          <a:xfrm>
            <a:off x="4315968" y="2450592"/>
            <a:ext cx="3255264" cy="122529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&lt;overlay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android:targetPackage="com.example.rrotarget"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android:targetName="RROTargetTheme"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android:priority="1"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android:isStatic="false"/&gt;</a:t>
            </a:r>
            <a:endParaRPr sz="950"/>
          </a:p>
        </p:txBody>
      </p:sp>
      <p:graphicFrame>
        <p:nvGraphicFramePr>
          <p:cNvPr id="36" name="Table 0"/>
          <p:cNvGraphicFramePr/>
          <p:nvPr/>
        </p:nvGraphicFramePr>
        <p:xfrm>
          <a:off x="457200" y="3931920"/>
          <a:ext cx="7223760" cy="1005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cmd overlay list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의미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다음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[x]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활성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확인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[ ]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매칭 OK · 비활성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enable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---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매칭 실패 (NO_IDMAP)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targetName / overlayable 확인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D213B074-0050-47DE-8275-D69F5AC929F1}"/>
              </a:ext>
            </a:extLst>
          </p:cNvPr>
          <p:cNvSpPr>
            <a:spLocks noGrp="1"/>
          </p:cNvSpPr>
          <p:nvPr/>
        </p:nvSpPr>
        <p:spPr>
          <a:xfrm>
            <a:off x="7955280" y="4114800"/>
            <a:ext cx="3749040" cy="1463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같은 이름·타입만 덮는다 — 파일명이 아니라 리소스 이름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priority 높은 활성 오버레이가 이긴다 (실습 4 충돌 실험)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SRO(Product Flavors)는 같은 매칭이 빌드 시 Gradle 에서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IOverlayManager hidden API = cmd overlay 의 실체 (ListOverlays)</a:t>
            </a:r>
            <a:endParaRPr sz="100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9B6BD15-E318-49E6-92D8-12CCCDF509D5}"/>
              </a:ext>
            </a:extLst>
          </p:cNvPr>
          <p:cNvSpPr>
            <a:spLocks noGrp="1"/>
          </p:cNvSpPr>
          <p:nvPr/>
        </p:nvSpPr>
        <p:spPr>
          <a:xfrm>
            <a:off x="7955280" y="566928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82794C6-AD50-48CD-BAB2-6AF05E3428F7}"/>
              </a:ext>
            </a:extLst>
          </p:cNvPr>
          <p:cNvSpPr>
            <a:spLocks noGrp="1"/>
          </p:cNvSpPr>
          <p:nvPr/>
        </p:nvSpPr>
        <p:spPr>
          <a:xfrm>
            <a:off x="7955280" y="56692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3 · RRO 매칭</a:t>
            </a:r>
            <a:endParaRPr sz="1150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55280" y="1783583"/>
            <a:ext cx="3749040" cy="219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8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9C8C08-BDD6-48E4-BEC5-D59561483035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379CDD-EF90-4F0C-A212-965B20EA2C7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97984D-0075-4A8C-8A4A-87727420EC13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Car SystemUI 특수성 — overlayable 미선언 → /system/app 설치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82D04D-57C3-4D19-B0DB-DA96E44ADCB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03FF0A-F76E-43D2-B59B-7B627A96AB3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8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1F0050-86F5-42A2-B616-EA3A556AC5D5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C95DC9-C5FE-43D2-B5C2-A2ED79579300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adb install → ---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430289-6843-4BFD-865F-C6AEB8A49F6E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mTargetOverlayableName: null</a:t>
            </a:r>
            <a:endParaRPr sz="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D518D9A-27FF-44F8-BE73-0FA1A16AC500}"/>
              </a:ext>
            </a:extLst>
          </p:cNvPr>
          <p:cNvSpPr>
            <a:spLocks noGrp="1"/>
          </p:cNvSpPr>
          <p:nvPr/>
        </p:nvSpPr>
        <p:spPr>
          <a:xfrm>
            <a:off x="2212848" y="192024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E866D3C-CB76-4863-9262-1DD3D1B9DF3A}"/>
              </a:ext>
            </a:extLst>
          </p:cNvPr>
          <p:cNvSpPr>
            <a:spLocks noGrp="1"/>
          </p:cNvSpPr>
          <p:nvPr/>
        </p:nvSpPr>
        <p:spPr>
          <a:xfrm>
            <a:off x="233172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5F8CF6-B01C-4B36-B7C5-68914E300669}"/>
              </a:ext>
            </a:extLst>
          </p:cNvPr>
          <p:cNvSpPr>
            <a:spLocks noGrp="1"/>
          </p:cNvSpPr>
          <p:nvPr/>
        </p:nvSpPr>
        <p:spPr>
          <a:xfrm>
            <a:off x="233172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policy</a:t>
            </a:r>
            <a:endParaRPr sz="11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D039B1-AE35-4D58-A9C7-1D55EE6F65AD}"/>
              </a:ext>
            </a:extLst>
          </p:cNvPr>
          <p:cNvSpPr>
            <a:spLocks noGrp="1"/>
          </p:cNvSpPr>
          <p:nvPr/>
        </p:nvSpPr>
        <p:spPr>
          <a:xfrm>
            <a:off x="2331720" y="23774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사용자=public(계약 필수)</a:t>
            </a:r>
            <a:endParaRPr sz="950"/>
          </a:p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/system/app=system(불필요)</a:t>
            </a:r>
            <a:endParaRPr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3EB475F-F0D9-4E49-B476-B529EA45C779}"/>
              </a:ext>
            </a:extLst>
          </p:cNvPr>
          <p:cNvSpPr>
            <a:spLocks noGrp="1"/>
          </p:cNvSpPr>
          <p:nvPr/>
        </p:nvSpPr>
        <p:spPr>
          <a:xfrm>
            <a:off x="4087368" y="192024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E95E328-8EA9-4E16-8188-50AE81EBA424}"/>
              </a:ext>
            </a:extLst>
          </p:cNvPr>
          <p:cNvSpPr>
            <a:spLocks noGrp="1"/>
          </p:cNvSpPr>
          <p:nvPr/>
        </p:nvSpPr>
        <p:spPr>
          <a:xfrm>
            <a:off x="420624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54A17A-01D0-4CCA-9974-BF435649E8CB}"/>
              </a:ext>
            </a:extLst>
          </p:cNvPr>
          <p:cNvSpPr>
            <a:spLocks noGrp="1"/>
          </p:cNvSpPr>
          <p:nvPr/>
        </p:nvSpPr>
        <p:spPr>
          <a:xfrm>
            <a:off x="420624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해결</a:t>
            </a:r>
            <a:endParaRPr sz="11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AA7E194-1F86-4457-9925-8FA0DDA8401C}"/>
              </a:ext>
            </a:extLst>
          </p:cNvPr>
          <p:cNvSpPr>
            <a:spLocks noGrp="1"/>
          </p:cNvSpPr>
          <p:nvPr/>
        </p:nvSpPr>
        <p:spPr>
          <a:xfrm>
            <a:off x="4206240" y="23774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targetName 제거 + /system/app</a:t>
            </a:r>
            <a:endParaRPr sz="9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E98E640-5166-4066-983E-82F09CA04817}"/>
              </a:ext>
            </a:extLst>
          </p:cNvPr>
          <p:cNvSpPr>
            <a:spLocks noGrp="1"/>
          </p:cNvSpPr>
          <p:nvPr/>
        </p:nvSpPr>
        <p:spPr>
          <a:xfrm>
            <a:off x="5961888" y="192024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E8ABE56-5DDB-489A-859C-D269527D7578}"/>
              </a:ext>
            </a:extLst>
          </p:cNvPr>
          <p:cNvSpPr>
            <a:spLocks noGrp="1"/>
          </p:cNvSpPr>
          <p:nvPr/>
        </p:nvSpPr>
        <p:spPr>
          <a:xfrm>
            <a:off x="608076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60DFBAB-BA37-4878-9C31-86B4EBBA4F47}"/>
              </a:ext>
            </a:extLst>
          </p:cNvPr>
          <p:cNvSpPr>
            <a:spLocks noGrp="1"/>
          </p:cNvSpPr>
          <p:nvPr/>
        </p:nvSpPr>
        <p:spPr>
          <a:xfrm>
            <a:off x="608076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aapt dump resources</a:t>
            </a:r>
            <a:endParaRPr sz="11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3105A10-455E-4D5E-B0E2-197F16535F4A}"/>
              </a:ext>
            </a:extLst>
          </p:cNvPr>
          <p:cNvSpPr>
            <a:spLocks noGrp="1"/>
          </p:cNvSpPr>
          <p:nvPr/>
        </p:nvSpPr>
        <p:spPr>
          <a:xfrm>
            <a:off x="6080760" y="23774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Car 전용 이름 추출</a:t>
            </a:r>
            <a:endParaRPr sz="9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9A87AEB-4907-454B-92A6-EFC98BE62859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7223760" cy="2011680"/>
          </a:xfrm>
          <a:prstGeom prst="roundRect">
            <a:avLst>
              <a:gd name="adj" fmla="val 3636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7A40610-B216-41AC-8CFF-9C83896F4B21}"/>
              </a:ext>
            </a:extLst>
          </p:cNvPr>
          <p:cNvSpPr>
            <a:spLocks noGrp="1"/>
          </p:cNvSpPr>
          <p:nvPr/>
        </p:nvSpPr>
        <p:spPr>
          <a:xfrm>
            <a:off x="566928" y="3273552"/>
            <a:ext cx="7004304" cy="186537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adb root; adb remount        # 1차: verity 해제 → reboot required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adb reboot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adb root; adb remount        # 2차: remount succeeded  ← 실습 1 에서 완료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adb shell mkdir -p /system/app/SystemUIOverlay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adb push systemuioverlay.apk /system/app/SystemUIOverlay/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adb reboot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cmd overlay enable com.example.systemuioverlay; killall com.android.systemui</a:t>
            </a:r>
            <a:endParaRPr sz="11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FA835C2-54DF-47CD-AACE-FE4074D2C42B}"/>
              </a:ext>
            </a:extLst>
          </p:cNvPr>
          <p:cNvSpPr>
            <a:spLocks noGrp="1"/>
          </p:cNvSpPr>
          <p:nvPr/>
        </p:nvSpPr>
        <p:spPr>
          <a:xfrm>
            <a:off x="7955280" y="411480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B7BC466-9214-4CA3-96CC-C16618470249}"/>
              </a:ext>
            </a:extLst>
          </p:cNvPr>
          <p:cNvSpPr>
            <a:spLocks noGrp="1"/>
          </p:cNvSpPr>
          <p:nvPr/>
        </p:nvSpPr>
        <p:spPr>
          <a:xfrm>
            <a:off x="8138160" y="416052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9971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변경이 안 먹을 때 7가지</a:t>
            </a:r>
            <a:endParaRPr sz="1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8C717AE-6B61-4902-AD67-0E881DA9D88A}"/>
              </a:ext>
            </a:extLst>
          </p:cNvPr>
          <p:cNvSpPr>
            <a:spLocks noGrp="1"/>
          </p:cNvSpPr>
          <p:nvPr/>
        </p:nvSpPr>
        <p:spPr>
          <a:xfrm>
            <a:off x="8138160" y="4480560"/>
            <a:ext cx="33832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① remount succeeded? ② --- (targetName)? ③ enable 안 함? ④ killall? ⑤ aapt 이름? ⑥ 높은 priority 가 덮나? ⑦ AndroidRuntime 크래시?</a:t>
            </a:r>
            <a:endParaRPr sz="10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5B738BF-1BD4-4967-978D-1A8D4D355BE9}"/>
              </a:ext>
            </a:extLst>
          </p:cNvPr>
          <p:cNvSpPr>
            <a:spLocks noGrp="1"/>
          </p:cNvSpPr>
          <p:nvPr/>
        </p:nvSpPr>
        <p:spPr>
          <a:xfrm>
            <a:off x="7955280" y="566928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B603D66-11CF-4321-A0BE-38855631DD6D}"/>
              </a:ext>
            </a:extLst>
          </p:cNvPr>
          <p:cNvSpPr>
            <a:spLocks noGrp="1"/>
          </p:cNvSpPr>
          <p:nvPr/>
        </p:nvSpPr>
        <p:spPr>
          <a:xfrm>
            <a:off x="7955280" y="56692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4 · Car SystemUI RRO</a:t>
            </a:r>
            <a:endParaRPr sz="11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D4D1CFD-A3B4-442E-BDE1-4D451DB177E0}"/>
              </a:ext>
            </a:extLst>
          </p:cNvPr>
          <p:cNvSpPr>
            <a:spLocks noGrp="1"/>
          </p:cNvSpPr>
          <p:nvPr/>
        </p:nvSpPr>
        <p:spPr>
          <a:xfrm>
            <a:off x="457200" y="534924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바 배경은 투명 리소스(*_transparent) 를 함께 덮어야 바뀐다 — Phone SystemUI 와 이름·구조가 다르다</a:t>
            </a:r>
            <a:endParaRPr sz="1100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55280" y="1783583"/>
            <a:ext cx="3749040" cy="219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D8C6C9-AD6B-40D4-B80A-4DC6D06CF57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4CD790-2673-4D27-AEF2-98FABB65788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87F8A3-0069-4082-A033-24B0F8A3C820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APEX 만들기 — simple_apex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FFA64C-A9D5-4C63-BB15-6BC37ACB850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E34BF0-2446-4353-BC53-4C83CCAAC26E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9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FE9776D-1084-4DC5-BAE8-49AA28173DCC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6A8768E-812C-450F-9D84-103C4FC4C200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바이너리 하나를 APEX 로 묶어 빌드·설치하고 /apex 마운트 확인, file_contexts·compressible 오류 재현     ·     소요 35분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09071D0-DB60-473B-8460-350F778E676B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850D60-BDFF-4A73-A894-44E9A7137F19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binary/main.cpp + binary/Android.bp (apex_available)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apex_manifest.json · Android.bp (apex · apex_key · android_app_certificate)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키 4종 확인 · system/sepolicy/apex/com.example.simple-file_contexts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com.example.simple → deapexer list → WinSCP → push /system/apex → reboot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ls /apex/com.example.simple/ → 실행 → dumpsys apexservice · Step 7 오류 2종 재현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2033AE1-7D8C-4058-B833-A5967472B5DB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9CB098-F942-4B59-87BD-7702C13A12AC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A27FD8-0644-4ECB-850B-8AEBB3BA6F7D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$OUT/system/apex/com.example.simple.apex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/apex/com.example.simple@1 마운트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Hello from Simple APEX 출력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should be under system/sepolicy · do not compress 메시지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818C1BA-9168-40C2-8A46-C381ED45380C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DD230CF-441F-40C3-B057-B8DD87AA7786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2 · APEX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7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BB252E-BB4C-4C13-B0DA-5032BE6A5D4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09E30B-F3A2-4B14-9B21-D106F4901F05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3·4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F4A806-43F9-40D7-BCFE-4F0ADD6C795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RRO 문자열·색·drawable → ListOverlays · priority 충돌 · SRO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16BEBA-D2CD-4D4C-8BE6-A47BD474D51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F4E45C-C699-492D-AA1F-40539DBFA93D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10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44A0C00-8400-472E-9E7A-80EFA71197C6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9E59B0-3336-4BB5-8280-49063B472D0C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overlayable 계약으로 5가지 리소스를 런타임에 바꾸고(실습 3), hidden API 도구·우선순위·Flavor 를 확인(실습 4)     ·     소요 35 + 20분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27A2F51-016A-4561-9C40-036861CE60E9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7D44B7-9606-4287-856C-3CEC37296981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RROTarget (overlayable.xml 5개 항목, minSdk 34) → RROOverlay (&lt;overlay&gt; · hasCode=false · 같은 이름 리소스)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adb install ×2 → cmd overlay list [ ] → enable → force-stop·start → dump → disable · 계약 실험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ListOverlays.java + Android.bp(java_binary, libs framework) → mm → .jar WinSCP → app_process /system/bin ListOverlays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RROOverlay2 priority=2 → 둘 다 enable → 어느 것이 이기나 → dump priority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productFlavors original/themed → themedDebug Run (5분)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137B439-C3DA-4714-BC0D-69A2F29885BC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589BEA7-ACD3-4D21-B7D7-EEBF2AC780E7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499A237-BA27-40D0-871C-6DCE271A5BBE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5가지 리소스 변경 · overlayable 에서 뺀 것은 그대로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ListOverlays 출력에 STATE_NO_IDMAP(---) 항목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priority 2 문자열이 이김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themedDebug 초록 배경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50BBB70-4D63-46FE-BFE5-9F7854890B97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396F737-163B-45E2-AC45-3772AC23DF2C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3 · RRO 매칭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1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117150-BF25-4633-B497-6B82FD7A9DED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B5E4AC-76B6-485C-8EE4-FE8D38396C26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DF0A0A-59AC-4FAF-B178-C9CA31895F12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SystemUI · WindowManager — 구조 · 분석 · 커스터마이징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E47C28-D613-4889-BBD8-77BE8FD994D7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25분 · dumpsys 분석 · QS 타일 (QSTileImpl · Dagger) · 프레임 파이프라인 · 창 타입과 권한 · WMS 창 → SF Layer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40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39E98B-CC73-410D-9210-4A6181FE81B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3E8C26-187C-486F-9660-3BAEB9EC101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26CE81-2640-4936-BBD4-2C4FFC0F6DB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SystemUI — 프레임 파이프라인과 QS 타일 추가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367B1D-2F03-4105-BCB2-F8FBBFBCABBD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F6FC58-551F-436A-9DCF-FA8FE7430D5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12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664720-9DCE-4FA9-9E04-08D3BA865204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5D2A8D-479A-4FC1-981A-58C524B83984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deliverInputEvent</a:t>
            </a:r>
            <a:endParaRPr sz="1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5B99ED-79CD-4AED-8750-8C81DFDC25CB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swipe 터치</a:t>
            </a:r>
            <a:endParaRPr sz="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3AA4F63-9EC3-4E02-92E1-359E6D273EE5}"/>
              </a:ext>
            </a:extLst>
          </p:cNvPr>
          <p:cNvSpPr>
            <a:spLocks noGrp="1"/>
          </p:cNvSpPr>
          <p:nvPr/>
        </p:nvSpPr>
        <p:spPr>
          <a:xfrm>
            <a:off x="2212848" y="192024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E75D5F3-C1DF-438F-825D-A915A3D27202}"/>
              </a:ext>
            </a:extLst>
          </p:cNvPr>
          <p:cNvSpPr>
            <a:spLocks noGrp="1"/>
          </p:cNvSpPr>
          <p:nvPr/>
        </p:nvSpPr>
        <p:spPr>
          <a:xfrm>
            <a:off x="233172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956D428-7E48-48CB-8F76-423901E4C765}"/>
              </a:ext>
            </a:extLst>
          </p:cNvPr>
          <p:cNvSpPr>
            <a:spLocks noGrp="1"/>
          </p:cNvSpPr>
          <p:nvPr/>
        </p:nvSpPr>
        <p:spPr>
          <a:xfrm>
            <a:off x="233172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Choreographer#doFrame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C3748B-3066-4EAD-8222-74BFE2686F2A}"/>
              </a:ext>
            </a:extLst>
          </p:cNvPr>
          <p:cNvSpPr>
            <a:spLocks noGrp="1"/>
          </p:cNvSpPr>
          <p:nvPr/>
        </p:nvSpPr>
        <p:spPr>
          <a:xfrm>
            <a:off x="2331720" y="23774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UI Thread measure/layout/draw</a:t>
            </a:r>
            <a:endParaRPr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13F37B-3F0F-4110-8C5E-FD851BE28284}"/>
              </a:ext>
            </a:extLst>
          </p:cNvPr>
          <p:cNvSpPr>
            <a:spLocks noGrp="1"/>
          </p:cNvSpPr>
          <p:nvPr/>
        </p:nvSpPr>
        <p:spPr>
          <a:xfrm>
            <a:off x="4087368" y="192024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C822E2F-7CFB-454D-8954-534745CF5770}"/>
              </a:ext>
            </a:extLst>
          </p:cNvPr>
          <p:cNvSpPr>
            <a:spLocks noGrp="1"/>
          </p:cNvSpPr>
          <p:nvPr/>
        </p:nvSpPr>
        <p:spPr>
          <a:xfrm>
            <a:off x="420624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45D474-BBCA-4DD4-B73C-59041FD54C94}"/>
              </a:ext>
            </a:extLst>
          </p:cNvPr>
          <p:cNvSpPr>
            <a:spLocks noGrp="1"/>
          </p:cNvSpPr>
          <p:nvPr/>
        </p:nvSpPr>
        <p:spPr>
          <a:xfrm>
            <a:off x="420624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RenderThread DrawFrames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E94862A-9519-4061-B54E-9B538DBF6944}"/>
              </a:ext>
            </a:extLst>
          </p:cNvPr>
          <p:cNvSpPr>
            <a:spLocks noGrp="1"/>
          </p:cNvSpPr>
          <p:nvPr/>
        </p:nvSpPr>
        <p:spPr>
          <a:xfrm>
            <a:off x="4206240" y="23774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GPU 명령 → BufferQueue</a:t>
            </a:r>
            <a:endParaRPr sz="9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9D28D5D-BA1F-4435-A56D-AF365C4D984A}"/>
              </a:ext>
            </a:extLst>
          </p:cNvPr>
          <p:cNvSpPr>
            <a:spLocks noGrp="1"/>
          </p:cNvSpPr>
          <p:nvPr/>
        </p:nvSpPr>
        <p:spPr>
          <a:xfrm>
            <a:off x="5961888" y="1920240"/>
            <a:ext cx="10972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872C193-7081-4C2B-9357-59949AEFC8F4}"/>
              </a:ext>
            </a:extLst>
          </p:cNvPr>
          <p:cNvSpPr>
            <a:spLocks noGrp="1"/>
          </p:cNvSpPr>
          <p:nvPr/>
        </p:nvSpPr>
        <p:spPr>
          <a:xfrm>
            <a:off x="608076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3F88D38-D4F7-4EA8-A49E-AD906EBB59B4}"/>
              </a:ext>
            </a:extLst>
          </p:cNvPr>
          <p:cNvSpPr>
            <a:spLocks noGrp="1"/>
          </p:cNvSpPr>
          <p:nvPr/>
        </p:nvSpPr>
        <p:spPr>
          <a:xfrm>
            <a:off x="6080760" y="1783080"/>
            <a:ext cx="17373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SF onMessageRefresh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6BA53D2-370D-439D-BE95-DFA4EB0D6201}"/>
              </a:ext>
            </a:extLst>
          </p:cNvPr>
          <p:cNvSpPr>
            <a:spLocks noGrp="1"/>
          </p:cNvSpPr>
          <p:nvPr/>
        </p:nvSpPr>
        <p:spPr>
          <a:xfrm>
            <a:off x="6080760" y="23774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합성 → HWC (Day 3)</a:t>
            </a:r>
            <a:endParaRPr sz="9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B13CEA0-9DF3-4503-876A-12DDAE5F10E5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7223760" cy="2651760"/>
          </a:xfrm>
          <a:prstGeom prst="roundRect">
            <a:avLst>
              <a:gd name="adj" fmla="val 2759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D89F4EE-4812-44EC-8B17-C25D0BADDC6C}"/>
              </a:ext>
            </a:extLst>
          </p:cNvPr>
          <p:cNvSpPr>
            <a:spLocks noGrp="1"/>
          </p:cNvSpPr>
          <p:nvPr/>
        </p:nvSpPr>
        <p:spPr>
          <a:xfrm>
            <a:off x="566928" y="3090672"/>
            <a:ext cx="7004304" cy="250545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public class CpuInfoTile extends QSTileImpl&lt;BooleanState&gt;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public static final String TILE_SPEC = "cpuinfo";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@Inject public CpuInfoTile(QSHost host, QsEventLogger l, @Background Looper bg, @Main Handler h, …) { super(…);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protected void handleClick(View v) { mShowing = !mShowing; refreshState();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protected void handleUpdateState(BooleanState s, Object arg) { s.label = "CPU Info"; s.icon = …; s.secondaryLabel = readLoadAvg();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Dagger 등록 — 없으면 SystemUI 크래시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@Binds @IntoMap @StringKey(CpuInfoTile.TILE_SPEC) QSTileImpl&lt;?&gt; bindCpuInfoTile(CpuInfoTile t);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config.xml: quick_settings_tiles_default = "wifi,bt,…,cpuinfo"   →  m SystemUI → push → killall</a:t>
            </a:r>
            <a:endParaRPr sz="11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C347D3A-200C-4754-A231-4E7CE92D71B4}"/>
              </a:ext>
            </a:extLst>
          </p:cNvPr>
          <p:cNvSpPr>
            <a:spLocks noGrp="1"/>
          </p:cNvSpPr>
          <p:nvPr/>
        </p:nvSpPr>
        <p:spPr>
          <a:xfrm>
            <a:off x="7955280" y="3931920"/>
            <a:ext cx="3749040" cy="16459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App 은 Thread 2개(UI + Render) — Jank 원인을 두 트랙으로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gfxinfo Janky % = Perfetto Actual Timeline 의 숫자판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"타일이 안 보여요" → Dagger 누락(logcat -s AndroidRuntime) 또는 Car config.xml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상태바 커스텀 뷰: status_bar.xml + TextView 상속 (참고 코드)</a:t>
            </a:r>
            <a:endParaRPr sz="10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2EDBD6C-143A-42FD-AC3B-3EAEE3443295}"/>
              </a:ext>
            </a:extLst>
          </p:cNvPr>
          <p:cNvSpPr>
            <a:spLocks noGrp="1"/>
          </p:cNvSpPr>
          <p:nvPr/>
        </p:nvSpPr>
        <p:spPr>
          <a:xfrm>
            <a:off x="7955280" y="566928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8D6D774-701B-4DDF-B80C-EDB27462AB9E}"/>
              </a:ext>
            </a:extLst>
          </p:cNvPr>
          <p:cNvSpPr>
            <a:spLocks noGrp="1"/>
          </p:cNvSpPr>
          <p:nvPr/>
        </p:nvSpPr>
        <p:spPr>
          <a:xfrm>
            <a:off x="7955280" y="56692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5 · SystemUI 프레임 + QS 타일</a:t>
            </a:r>
            <a:endParaRPr sz="115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56145" y="1783080"/>
            <a:ext cx="3747309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9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DC7DBA-4B28-4208-8A3F-30ABF9461DF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C88F4E-E4E0-41AC-A718-F4A0AA2F341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4FAC08-C48F-446B-AA09-C54061CB0938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WindowManager — 창 타입 · 권한 · WMS 창은 SF Layer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D781E1-1633-4BCC-90E8-55DCA8B19A5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FB1863-0AAE-47CA-A3E7-176800885F4E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13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3B17A9C-2237-4C09-B9A9-745119A2526E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6766560" cy="2103120"/>
          </a:xfrm>
          <a:prstGeom prst="roundRect">
            <a:avLst>
              <a:gd name="adj" fmla="val 3478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A59187-1262-496F-B96D-0576DD7B0E09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6547104" cy="195681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WindowManager.LayoutParams p = new WindowManager.LayoutParams(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WRAP_CONTENT, WRAP_CONTENT,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WindowManager.LayoutParams.TYPE_APPLICATION_OVERLAY,   // 2038 — 다른 앱 위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WindowManager.LayoutParams.FLAG_NOT_FOCUSABLE, PixelFormat.TRANSLUCENT);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windowManager.addView(floatingView, p);   // Binder → WMS.addWindow → 권한 검사 → SF createSurface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권한: SYSTEM_ALERT_WINDOW — Settings.canDrawOverlays() / appops set &lt;pkg&gt; SYSTEM_ALERT_WINDOW allow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없으면 BadTokenException: permission denied for window type 2038</a:t>
            </a:r>
            <a:endParaRPr sz="1100"/>
          </a:p>
        </p:txBody>
      </p:sp>
      <p:graphicFrame>
        <p:nvGraphicFramePr>
          <p:cNvPr id="24" name="Table 0"/>
          <p:cNvGraphicFramePr/>
          <p:nvPr/>
        </p:nvGraphicFramePr>
        <p:xfrm>
          <a:off x="457200" y="4023360"/>
          <a:ext cx="6766560" cy="1005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창 타입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누가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예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TYPE_APPLICATION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Activity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앱 창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TYPE_APPLICATION_OVERLAY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권한 있는 앱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플로팅 위젯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시스템 창 (StatusBar 등)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system UID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SystemUI 의 바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12B2DA41-4762-4AA4-AAD6-BA309FDA3C6D}"/>
              </a:ext>
            </a:extLst>
          </p:cNvPr>
          <p:cNvSpPr>
            <a:spLocks noGrp="1"/>
          </p:cNvSpPr>
          <p:nvPr/>
        </p:nvSpPr>
        <p:spPr>
          <a:xfrm>
            <a:off x="7498080" y="4023360"/>
            <a:ext cx="4206240" cy="1463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WMS 가 Day 3 실습 9 의 createSurface 를 대신 → App 은 Surface 를 받아 그린다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권한 검사는 WMS(system_server) 에서 — Day 2 UID 검사와 같은 자리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window windows ↔ dumpsys SurfaceFlinger --list 로 대응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Fragment 분할은 Layer 1개 · 디스플레이가 다르면 Layer 스택이 다르다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AA96115-613B-41EB-9AE1-A06F043D4619}"/>
              </a:ext>
            </a:extLst>
          </p:cNvPr>
          <p:cNvSpPr>
            <a:spLocks noGrp="1"/>
          </p:cNvSpPr>
          <p:nvPr/>
        </p:nvSpPr>
        <p:spPr>
          <a:xfrm>
            <a:off x="7498080" y="5577840"/>
            <a:ext cx="42062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41A612F-C0AA-4EA4-AC69-BEE5F9B42473}"/>
              </a:ext>
            </a:extLst>
          </p:cNvPr>
          <p:cNvSpPr>
            <a:spLocks noGrp="1"/>
          </p:cNvSpPr>
          <p:nvPr/>
        </p:nvSpPr>
        <p:spPr>
          <a:xfrm>
            <a:off x="7498080" y="557784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6 · WMS 창 → SF Layer</a:t>
            </a:r>
            <a:endParaRPr sz="115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8080" y="1738154"/>
            <a:ext cx="4206240" cy="210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2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329A1E-C1ED-4153-A609-C9A42D84D73D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2B862D-4E8D-454D-91A7-78E15F5AB0D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5·6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70EAE0-4D11-41CF-8871-7C0E23A0590D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SystemUI dumpsys 분석 → Car SystemUI RRO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A71017-7D5B-4E69-A319-362CD4FDC30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BBF1F6-7075-437D-8599-C8D98CDB4E4F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14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F62EEF-75E5-4DFF-AE8A-5A18B4407268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AAE49F-4B87-4CB4-967C-C1EAFF51B461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dumpsys 로 상태바·알림·프레임 통계 읽기(실습 5) → aapt 로 이름 뽑아 /system/app 에 오버레이 설치(실습 6)     ·     소요 15 + 30분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9A6B18-F20B-4862-B2B3-03A5368CD6DC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4D1E3B-FB29-4D67-939D-2678F2710366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5: dumpsys statusbar 섹션 · 알림 발생(am start VIEW) 전후 notification · svc wifi 토글 · gfxinfo Janky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6: cmd overlay list --- · dumpsys overlay mTargetOverlayableName: null 확인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6: pm path → adb pull CarSystemUI.apk → aapt dump resources | findstr color/system_bar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6: SystemUIOverlay (targetName 없음, minSdk 34) → mkdir /system/app/SystemUIOverlay → push → reboot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6: cmd overlay list [ ] → enable → killall com.android.systemui → screencap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0D1065-7D57-4337-A820-48A18FF8A005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EC65813-9845-454B-87ED-23BAD8287405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9266E0-4AB5-49C5-A826-603863D17402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mDisabled · Tiles · Icons 위치, Janky %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--- 와 null 확인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aapt 로 실제 이름 6개 이상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시계 핑크 · 아이콘 노랑 · Driver 시안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21DF495-16A9-469D-9365-D18025418929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D349774-B8A2-430E-BBD8-2C575EBBD0A3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4 · Car SystemUI RRO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6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B9D962-71A2-4F26-9424-0A10CA01DEA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103051-AC06-46B5-84FF-C6AE3105FFB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7·8·9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2FD1D9-95E8-4906-905C-1FE741E4E813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QS 타일 소스 수정 → SystemUI Perfetto → WindowManager 앱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898B79-8A28-4BD4-A97C-E11DEE9898E4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E67DA8-9517-485D-86D2-35435036D581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15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77E635-E366-4D7C-8779-C62A7A24AEF8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E6CB5C-40D6-4F54-A4C8-22032157EEAA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코드로 SystemUI 바꾸기(실습 7) · UI/RenderThread Jank(실습 8) · 플로팅 창과 Layer(실습 9)     ·     소요 40 + 20 + 25분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ACBC55-85BB-43AA-A973-4E26CF9FB33C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752AE3B-CC4F-4A5F-8807-AECA5A71F86E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7: CpuInfoTile.java · ic_qs_cpu_info.xml · Dagger @Binds @IntoMap (grep FlashlightTile.TILE_SPEC 로 위치) · config.xml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7: m SystemUI → WinSCP CarSystemUI.apk → push /system_ext/priv-app/CarSystemUI/ → killall · Step 6 등록 빼고 크래시 로그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8: day4_sysui.cfg (gfx/view/wm/am/input) → QS swipe 4회 캡처 → doFrame / DrawFrames / SF · gfxinfo framestats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9: FloatingOverlayDemo → appops allow → dumpsys window · SurfaceFlinger --list → deny → BadTokenException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9: SplitScreenDemo Run → --list 에 Layer 하나 · dumpsys display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BC8960-0D8E-4634-AA41-4901AA75D0A5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BFB09B2-788E-4E7F-B569-9AB8868972BF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3508B3-B7AC-4FCB-B30B-AD34E6F28D4C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QS 패널에 CPU Info · load 값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등록 누락 시 로그에서 cpuinfo 찾기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UI Thread / RenderThread 두 트랙, Jank 프레임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오버레이 Layer 확인 · permission denied for window type 2038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D440F84-ED47-486B-8742-177DA34666D5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767785-BDD8-4EE6-90CF-9C57D79491D8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5 · SystemUI 프레임 + QS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B277F04-33B8-4D41-B2DA-CA2C5D02B9B1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3B74DB2-4C76-4F2E-86DF-A74FB23555E9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4"/>
              </a:rPr>
              <a:t>▶  애니메이션 6 · WMS 창 → Layer</a:t>
            </a:r>
            <a:endParaRPr sz="115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7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5F9922-C89A-4E61-91BC-839633B98E2D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8E7F68-7587-4F8E-AE14-BA7714B07AA9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EEA7E0-F514-4436-8DAC-620B2D30912C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Automotive — CarService · CarPropertyManager · VHAL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B0775B-F81B-4138-B7F2-065C4ED64D4E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35분 · 계층 · Day 2 규칙 그대로 · Vehicle Property ID · CarPropertyManager API · VHAL 에뮬레이터 · cmd car_service · 권한 추적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96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EC279D-887F-435E-B5ED-7C2C0698322E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84E639-3051-4B09-882D-43A8DCBD138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3EC49A-520F-484E-840B-7D4D197BAF78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Automotive 계층 — App → CarService → VHAL, Day 2 규칙 그대로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63A238-6733-4743-8266-1ED68D5A5AB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3AA70A-8FF5-4CEC-9F48-FDCA22EE414A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17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0385B2-97BF-41B1-94EE-AD956A1383DB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760C48-8837-4160-9176-27F3B1FAC35A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6060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App (HvacSimulator)</a:t>
            </a:r>
            <a:endParaRPr sz="11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31C48C-EC49-44EB-BD2A-1CD01A1CFA45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Car.createCar → CarPropertyManager</a:t>
            </a:r>
            <a:endParaRPr sz="950"/>
          </a:p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uid 10xxx · priv-app</a:t>
            </a:r>
            <a:endParaRPr sz="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C59AA1-14BE-4930-8623-B728481C34BB}"/>
              </a:ext>
            </a:extLst>
          </p:cNvPr>
          <p:cNvSpPr>
            <a:spLocks noGrp="1"/>
          </p:cNvSpPr>
          <p:nvPr/>
        </p:nvSpPr>
        <p:spPr>
          <a:xfrm>
            <a:off x="3081528" y="1920240"/>
            <a:ext cx="182880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A27A4B-DE74-458A-8D6B-789DCA15F057}"/>
              </a:ext>
            </a:extLst>
          </p:cNvPr>
          <p:cNvSpPr>
            <a:spLocks noGrp="1"/>
          </p:cNvSpPr>
          <p:nvPr/>
        </p:nvSpPr>
        <p:spPr>
          <a:xfrm>
            <a:off x="329184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24CC99D-5744-42B8-954D-F39682763054}"/>
              </a:ext>
            </a:extLst>
          </p:cNvPr>
          <p:cNvSpPr>
            <a:spLocks noGrp="1"/>
          </p:cNvSpPr>
          <p:nvPr/>
        </p:nvSpPr>
        <p:spPr>
          <a:xfrm>
            <a:off x="3291840" y="1783080"/>
            <a:ext cx="26060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CarService (com.android.car)</a:t>
            </a:r>
            <a:endParaRPr sz="11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9A662F7-E5F5-47CE-9125-CF3933005ADB}"/>
              </a:ext>
            </a:extLst>
          </p:cNvPr>
          <p:cNvSpPr>
            <a:spLocks noGrp="1"/>
          </p:cNvSpPr>
          <p:nvPr/>
        </p:nvSpPr>
        <p:spPr>
          <a:xfrm>
            <a:off x="3291840" y="23774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CarPropertyService · PropertyHalService</a:t>
            </a:r>
            <a:endParaRPr sz="950"/>
          </a:p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uid system · car_service:[ICar]</a:t>
            </a:r>
            <a:endParaRPr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6F8DCD1-7073-4BD6-8E5E-958BAC21922B}"/>
              </a:ext>
            </a:extLst>
          </p:cNvPr>
          <p:cNvSpPr>
            <a:spLocks noGrp="1"/>
          </p:cNvSpPr>
          <p:nvPr/>
        </p:nvSpPr>
        <p:spPr>
          <a:xfrm>
            <a:off x="5916168" y="1920240"/>
            <a:ext cx="182880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8AC3FA-B396-4D84-8D21-613239AECD7E}"/>
              </a:ext>
            </a:extLst>
          </p:cNvPr>
          <p:cNvSpPr>
            <a:spLocks noGrp="1"/>
          </p:cNvSpPr>
          <p:nvPr/>
        </p:nvSpPr>
        <p:spPr>
          <a:xfrm>
            <a:off x="612648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030672-3F62-4C11-BE81-09AE78A80E39}"/>
              </a:ext>
            </a:extLst>
          </p:cNvPr>
          <p:cNvSpPr>
            <a:spLocks noGrp="1"/>
          </p:cNvSpPr>
          <p:nvPr/>
        </p:nvSpPr>
        <p:spPr>
          <a:xfrm>
            <a:off x="6126480" y="1783080"/>
            <a:ext cx="26060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VHAL (vendor)</a:t>
            </a:r>
            <a:endParaRPr sz="11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9BAF951-31B2-4D2B-99F2-B7B87BD4B4D9}"/>
              </a:ext>
            </a:extLst>
          </p:cNvPr>
          <p:cNvSpPr>
            <a:spLocks noGrp="1"/>
          </p:cNvSpPr>
          <p:nvPr/>
        </p:nvSpPr>
        <p:spPr>
          <a:xfrm>
            <a:off x="6126480" y="23774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…vehicle.IVehicle/default</a:t>
            </a:r>
            <a:endParaRPr sz="950"/>
          </a:p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 HAL · NDK · VINTF</a:t>
            </a:r>
            <a:endParaRPr sz="9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DC23C9D-9E80-44D3-839E-580454B5EE36}"/>
              </a:ext>
            </a:extLst>
          </p:cNvPr>
          <p:cNvSpPr>
            <a:spLocks noGrp="1"/>
          </p:cNvSpPr>
          <p:nvPr/>
        </p:nvSpPr>
        <p:spPr>
          <a:xfrm>
            <a:off x="8750808" y="1920240"/>
            <a:ext cx="182880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2F4743F-4189-4106-B618-2B56F0C5781A}"/>
              </a:ext>
            </a:extLst>
          </p:cNvPr>
          <p:cNvSpPr>
            <a:spLocks noGrp="1"/>
          </p:cNvSpPr>
          <p:nvPr/>
        </p:nvSpPr>
        <p:spPr>
          <a:xfrm>
            <a:off x="896112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5B6874"/>
          </a:solidFill>
          <a:ln w="12700">
            <a:solidFill>
              <a:srgbClr val="5B68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40265C-C980-4CF1-918F-AFDBAD18E8AF}"/>
              </a:ext>
            </a:extLst>
          </p:cNvPr>
          <p:cNvSpPr>
            <a:spLocks noGrp="1"/>
          </p:cNvSpPr>
          <p:nvPr/>
        </p:nvSpPr>
        <p:spPr>
          <a:xfrm>
            <a:off x="8961120" y="1783080"/>
            <a:ext cx="26060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차량 버스</a:t>
            </a:r>
            <a:endParaRPr sz="11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0B3BD7B-00FE-444B-8F71-6E47DC0FECCA}"/>
              </a:ext>
            </a:extLst>
          </p:cNvPr>
          <p:cNvSpPr>
            <a:spLocks noGrp="1"/>
          </p:cNvSpPr>
          <p:nvPr/>
        </p:nvSpPr>
        <p:spPr>
          <a:xfrm>
            <a:off x="8961120" y="23774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CAN / LIN</a:t>
            </a:r>
            <a:endParaRPr sz="950"/>
          </a:p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Emulator: FakeVehicleHardware</a:t>
            </a:r>
            <a:endParaRPr sz="950"/>
          </a:p>
        </p:txBody>
      </p:sp>
      <p:graphicFrame>
        <p:nvGraphicFramePr>
          <p:cNvPr id="51" name="Table 0"/>
          <p:cNvGraphicFramePr/>
          <p:nvPr/>
        </p:nvGraphicFramePr>
        <p:xfrm>
          <a:off x="457200" y="3200400"/>
          <a:ext cx="7223760" cy="16154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 규칙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Automotive 에서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Java System Service (실습 11)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CarService — service list | grep car_service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AIDL HAL 이름 &lt;pkg&gt;.&lt;I&gt;/&lt;inst&gt; · vendor · NDK · VINTF (실습 10)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android.hardware.automotive.vehicle.IVehicle/default · /vendor/etc/vintf/manifest.xml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getCallingUid 권한 검사 (실습 8)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CarPropertyService — HVAC_* → CONTROL_CAR_CLIMATE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App 은 HAL 직접 못 부름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App 은 CarService 만 본다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Callback 은 Binder Thread (Day 3 실습 6)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onChangeEvent → runOnUiThread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hape 22">
            <a:extLst>
              <a:ext uri="{FF2B5EF4-FFF2-40B4-BE49-F238E27FC236}">
                <a16:creationId xmlns:a16="http://schemas.microsoft.com/office/drawing/2014/main" id="{0FAEA533-5C7B-440E-B1CE-BDDA6518FA29}"/>
              </a:ext>
            </a:extLst>
          </p:cNvPr>
          <p:cNvSpPr>
            <a:spLocks noGrp="1"/>
          </p:cNvSpPr>
          <p:nvPr/>
        </p:nvSpPr>
        <p:spPr>
          <a:xfrm>
            <a:off x="7955280" y="448056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E952400-A6C8-4B6A-B2AD-35F550D1B354}"/>
              </a:ext>
            </a:extLst>
          </p:cNvPr>
          <p:cNvSpPr>
            <a:spLocks noGrp="1"/>
          </p:cNvSpPr>
          <p:nvPr/>
        </p:nvSpPr>
        <p:spPr>
          <a:xfrm>
            <a:off x="8065008" y="4553712"/>
            <a:ext cx="3529584" cy="67665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dumpsys …IVehicle/default --set 0x15600503 -a 49 -f 25.0   # VHAL 값 변경 → 위로 전파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cmd car_service day-night-mode night / inject-vhal-event / get-property-value</a:t>
            </a:r>
            <a:endParaRPr sz="9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4ADDBF0-07FB-4866-84C0-41E5F464FFD0}"/>
              </a:ext>
            </a:extLst>
          </p:cNvPr>
          <p:cNvSpPr>
            <a:spLocks noGrp="1"/>
          </p:cNvSpPr>
          <p:nvPr/>
        </p:nvSpPr>
        <p:spPr>
          <a:xfrm>
            <a:off x="7955280" y="539496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BB989C5-1012-4982-8369-CECCF94DC808}"/>
              </a:ext>
            </a:extLst>
          </p:cNvPr>
          <p:cNvSpPr>
            <a:spLocks noGrp="1"/>
          </p:cNvSpPr>
          <p:nvPr/>
        </p:nvSpPr>
        <p:spPr>
          <a:xfrm>
            <a:off x="7955280" y="539496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Automotive 계층</a:t>
            </a:r>
            <a:endParaRPr sz="1150"/>
          </a:p>
        </p:txBody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55280" y="3201136"/>
            <a:ext cx="3749040" cy="118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97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8F0DCB-6BDD-4B92-A8F4-2543EE87FD4D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D58A25-7035-40F4-91E9-D8B99A5179A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E2D841-057C-4955-A42D-9C096BADA7DD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Vehicle Property 와 CarPropertyManager API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E3E345-9101-4A5A-8928-08E3D004C5C1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CA7ED6-F363-4B9B-A06B-028B2B671576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18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46A695-85A5-41A6-91FC-31B0EA49262A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7223760" cy="2377440"/>
          </a:xfrm>
          <a:prstGeom prst="roundRect">
            <a:avLst>
              <a:gd name="adj" fmla="val 307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7C3591-AD40-4F92-A755-11C3279CA70B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7004304" cy="223113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car = Car.createCar(this, null, Car.CAR_WAIT_TIMEOUT_WAIT_FOREVER, (c, ready) -&gt;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pm = (CarPropertyManager) c.getCarManager(Car.PROPERTY_SERVICE);   // 준비된 뒤에만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CarPropertyConfig&lt;?&gt; cfg = pm.getCarPropertyConfig(VehiclePropertyIds.HVAC_TEMPERATURE_SET);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int[] areas = cfg.getAreaIds();                       // Emulator: [49, 68] — 좌석 그룹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float t = pm.getProperty(Float.class, HVAC_TEMPERATURE_SET, areas[0]).getValue();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pm.setProperty(Float.class, HVAC_TEMPERATURE_SET, areas[0], 22.5f);    // Binder → CarService → VHAL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pm.subscribePropertyEvents(HVAC_TEMPERATURE_SET, callback);            // onChangeEvent: Binder Thread</a:t>
            </a:r>
            <a:endParaRPr sz="1100"/>
          </a:p>
        </p:txBody>
      </p:sp>
      <p:graphicFrame>
        <p:nvGraphicFramePr>
          <p:cNvPr id="27" name="Table 0"/>
          <p:cNvGraphicFramePr/>
          <p:nvPr/>
        </p:nvGraphicFramePr>
        <p:xfrm>
          <a:off x="457200" y="4297680"/>
          <a:ext cx="4206240" cy="1676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HVAC_TEMPERATURE_SET = 0x15600503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0x1_______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Group SYSTEM (vendor 는 0x2)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0x_5______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Area SEAT (GLOBAL 0x1, WINDOW 0x3 …)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0x__6_____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Type FLOAT (INT32 0x4, BOOLEAN 0x2)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0x___00503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속성 ID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019E14E8-CB98-4044-B82C-65EBFEB1972E}"/>
              </a:ext>
            </a:extLst>
          </p:cNvPr>
          <p:cNvSpPr>
            <a:spLocks noGrp="1"/>
          </p:cNvSpPr>
          <p:nvPr/>
        </p:nvSpPr>
        <p:spPr>
          <a:xfrm>
            <a:off x="4846320" y="429768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7B31494-AD3A-407A-8AC8-D00B52CC5A4F}"/>
              </a:ext>
            </a:extLst>
          </p:cNvPr>
          <p:cNvSpPr>
            <a:spLocks noGrp="1"/>
          </p:cNvSpPr>
          <p:nvPr/>
        </p:nvSpPr>
        <p:spPr>
          <a:xfrm>
            <a:off x="5029200" y="43434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D9971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권한</a:t>
            </a:r>
            <a:endParaRPr sz="12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DBEDDF5-6EB3-432C-B8AA-90499193C5D8}"/>
              </a:ext>
            </a:extLst>
          </p:cNvPr>
          <p:cNvSpPr>
            <a:spLocks noGrp="1"/>
          </p:cNvSpPr>
          <p:nvPr/>
        </p:nvSpPr>
        <p:spPr>
          <a:xfrm>
            <a:off x="5029200" y="4663440"/>
            <a:ext cx="2560320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CAR_SPEED: dangerous → pm grant 가능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CONTROL_CAR_CLIMATE: signature|privileged → /system/priv-app + privapp-permissions.xml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거부 시 logcat -s CarPropertyService 에 필요한 권한 이름</a:t>
            </a:r>
            <a:endParaRPr sz="9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17D14C2-A5A0-4D7E-9229-37860D7E3017}"/>
              </a:ext>
            </a:extLst>
          </p:cNvPr>
          <p:cNvSpPr>
            <a:spLocks noGrp="1"/>
          </p:cNvSpPr>
          <p:nvPr/>
        </p:nvSpPr>
        <p:spPr>
          <a:xfrm>
            <a:off x="7955280" y="4297680"/>
            <a:ext cx="3749040" cy="13716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areaId 는 1 이 아니라 config 가 주는 49/68 — 호출 전 getCarPropertyConfig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범위 밖 값·잘못된 areaId → IllegalArgumentException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값의 진실은 VHAL — inject 와 --set 의 차이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콜백 Thread 이름 Binder:… → runOnUiThread</a:t>
            </a:r>
            <a:endParaRPr sz="10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4122B7C-6556-4641-B5B4-2B9E59F418F0}"/>
              </a:ext>
            </a:extLst>
          </p:cNvPr>
          <p:cNvSpPr>
            <a:spLocks noGrp="1"/>
          </p:cNvSpPr>
          <p:nvPr/>
        </p:nvSpPr>
        <p:spPr>
          <a:xfrm>
            <a:off x="7955280" y="571500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8CEB348-ADFC-411A-ADA3-70BA4F91FEDB}"/>
              </a:ext>
            </a:extLst>
          </p:cNvPr>
          <p:cNvSpPr>
            <a:spLocks noGrp="1"/>
          </p:cNvSpPr>
          <p:nvPr/>
        </p:nvSpPr>
        <p:spPr>
          <a:xfrm>
            <a:off x="7955280" y="571500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Automotive (Property · 권한)</a:t>
            </a:r>
            <a:endParaRPr sz="1150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55463" y="1737360"/>
            <a:ext cx="3748674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32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A572A4-80CC-4E59-BC81-CD0F3A93CC67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277957-3A1D-416B-8894-9001749A2C2D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10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EF8B08-3A71-4B57-AFB7-6A26BDCB5FDC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Automotive 계층 확인 · cmd car_service · 권한 거부 추적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E3524E-548F-482C-B9E1-958E65EC29E4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ED85692-A4C4-4AC4-B24F-92426EE3E8D6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19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823CB3-B4F9-42D3-B60D-E36C2F552C15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22E6FE8-33E8-4B17-8672-A403F4933E87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세 프로세스와 Binder 서비스를 확인하고 Day 2 규칙과 대조, 차량 이벤트 주입, 권한 거부 → 권한 이름 찾기     ·     소요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671675-76E9-4452-AADA-B6A7CCA5AF67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4AAA7E-80EA-4357-BFEF-AFADEE01A9CF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list | grep -E "car_service|vehicle" · ps -A (uid) · dumpsys car_service --hal · --services CarPropertyService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…IVehicle/default --list / --get 0x15600503 -a 49 / -a 68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/vendor/etc/vintf/manifest.xml 의 automotive.vehicle 항목 — Day 2 실습 10 표와 대조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cmd car_service day-night-mode night → day · inject-vhal-event 0x11600207 60 · get-property-value · inject-key 3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Kitchen Sink 권한 revoke → 속도 읽기 실패 → logcat -s CarPropertyService 에서 권한 이름 → pm list permissions -g → grant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0480C17-480B-46C2-9121-A1379E520ADD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9F362C-585F-4AF0-A4EE-910F402D659F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A29CF31-F5D7-4774-AE72-718A311D410E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car_service: [android.car.ICar] · IVehicle/default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--get 값 · manifest 항목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night 모드 즉시 전환 · 클러스터 속도 60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거부 로그의 android.car.permission.CAR_SPEED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EA90601-EEBF-4F30-950A-648966189DEF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4A82D04-5DA6-496A-AA01-3CBEE4AD1085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Automotive 계층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19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7827B7-D6C3-495E-A130-6CEA86BA9F2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A219CF-E44A-4A67-B0E8-E604D42B057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11·12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110609-B6C3-4CBD-BEE5-3B801B9A888B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HvacSimulator → CarPropertyManager 연동 → VHAL 조작·실패 재현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0B8175-B368-4AFD-8ACF-79541B1F911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6D3F1C-1B85-4C26-B039-1783C040DAC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20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6FFC6D-D31F-48A5-9AA8-CC37A5D7F46A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88AB37-4EA0-4C5A-BD0E-D5E5B2DD7B2B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저장소의 가짜 HVAC UI 를 실제 속성에 연결하고 priv-app 으로 설치(실습 11), 밖에서 바꾸고 깨뜨려 보기(실습 12)     ·     소요 35 + 25분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136DE2-9A2C-4336-94D4-8495A9185FAC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E6ED22D-CDD4-41B7-A560-3B5070C776EF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11: useLibrary("android.car") · uses-library · CONTROL_CAR_CLIMATE · Car.createCar → getCarPropertyConfig → areaIds [49,68]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11: 버튼 → setProperty(HVAC_TEMPERATURE_SET / FAN_SPEED / POWER_ON) · subscribePropertyEvents → onChangeEvent → runOnUiThread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11: /system/priv-app/HvacSimulator/ + privapp-permissions-hvacsimulator.xml → reboot → granted=true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12: VHAL --set 0x15600503 -a 49 -f 25.0 → 앱 UI 25.0 · inject-vhal-event 와 --get 비교 · Kitchen Sink 동기화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12: 범위 밖 값 · areaId 0 · runOnUiThread 제거 → 오류 3종 · xml 제거 → SecurityException → 권한 이름 → 복구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1E4FCAB-0072-4C86-9B3A-5F3EDB062930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C90E12-5E2B-4E57-AF70-110D4524B98C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9390445-8BC6-4964-B970-5190DC9B32D3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areaIds=[49, 68] 로그 · onChangeEvent thread=Binder:…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package granted=true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--set 후 앱 UI 변화 · subscriber 목록에 앱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IllegalArgumentException 2종 · CalledFromWrongThread · SecurityException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2461AD-CD28-4ECE-B6D6-2DC77FB236C0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41DD456-EAAE-4109-8EC0-1C6F8F868866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Automotive (Property · 권한)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02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60BE7E-3B86-4AB2-8AE8-EB7ED9E410A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C836F6-97C5-4E62-B342-B8FE81365E1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EBC374-1C74-4F3A-B39B-D6077C8AFEF9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13 · Perfetto 로 온도 버튼 한 번 따라가기 — 4일의 지도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F76154-0CB1-480C-9A24-D1AC1A96B21C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93AD50-3F37-44BC-9771-F64FFAD9885C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21</a:t>
            </a:r>
            <a:endParaRPr sz="900"/>
          </a:p>
        </p:txBody>
      </p:sp>
      <p:graphicFrame>
        <p:nvGraphicFramePr>
          <p:cNvPr id="20" name="Table 0"/>
          <p:cNvGraphicFramePr/>
          <p:nvPr/>
        </p:nvGraphicFramePr>
        <p:xfrm>
          <a:off x="457200" y="1737360"/>
          <a:ext cx="7498080" cy="2103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순서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트랙 · 슬라이스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배운 날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①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hvacsimulator main — deliverInputEvent → binder transaction (ICarProperty::setProperty)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1 AIDL Proxy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②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com.android.car binder:N — binder reply (CarPropertyService)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 실습 11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③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같은 Thread — binder transaction IVehicle::setValues → VHAL binder reply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 실습 10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④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VHAL → CarService — onPropertyEvent (역방향)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1 실습 9 · Day 2 실습 6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⑤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CarService → hvacsimulator binder:N — onChangeEvent (Looper 없음)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3 실습 6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⑥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runOnUiThread → main Choreographer#doFrame → RenderThread DrawFrames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3 실습 5 · Day 4 실습 8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⑦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surfaceflinger onMessageRefresh → HWC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3 실습 9·10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66BAD3AA-87F1-47A7-8496-39A874FC8C29}"/>
              </a:ext>
            </a:extLst>
          </p:cNvPr>
          <p:cNvSpPr>
            <a:spLocks noGrp="1"/>
          </p:cNvSpPr>
          <p:nvPr/>
        </p:nvSpPr>
        <p:spPr>
          <a:xfrm>
            <a:off x="8229600" y="4206240"/>
            <a:ext cx="3474720" cy="1463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cfg = Day 3 cfg + aidl + atrace_apps hvacsimulator/com.android.car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캡처 8초 동안 온도 ▲ 3번 → pull → 핀 4개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Flow events 탭에서 6개 이상 화살표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SQL 로 binder 쌍과 dur_us → "버튼 한 번의 비용" 기록</a:t>
            </a:r>
            <a:endParaRPr sz="10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D54B491-4B82-403B-AE75-CCAFB5EE3811}"/>
              </a:ext>
            </a:extLst>
          </p:cNvPr>
          <p:cNvSpPr>
            <a:spLocks noGrp="1"/>
          </p:cNvSpPr>
          <p:nvPr/>
        </p:nvSpPr>
        <p:spPr>
          <a:xfrm>
            <a:off x="8229600" y="571500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A4D9BA3-00C5-4601-993C-E2E1DBDB9551}"/>
              </a:ext>
            </a:extLst>
          </p:cNvPr>
          <p:cNvSpPr>
            <a:spLocks noGrp="1"/>
          </p:cNvSpPr>
          <p:nvPr/>
        </p:nvSpPr>
        <p:spPr>
          <a:xfrm>
            <a:off x="8229600" y="5715000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8 · 버튼 한 번의 flow</a:t>
            </a:r>
            <a:endParaRPr sz="115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30699" y="1737360"/>
            <a:ext cx="3472523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39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A1A48B-B3E5-453B-966B-850A13C8D19E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BB0C35-E674-4472-AA0B-4036CA2EFA3E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정리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DA8EDB-0FD6-4794-B998-3E379C6688F6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4일 총정리 — "안 될 때 보는 순서" 와 델타 배포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7D48B4-6999-4888-95DB-1A29CF005B2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92CD1E-560E-44B7-9213-3462824763A9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22</a:t>
            </a:r>
            <a:endParaRPr sz="900"/>
          </a:p>
        </p:txBody>
      </p:sp>
      <p:graphicFrame>
        <p:nvGraphicFramePr>
          <p:cNvPr id="21" name="Table 0"/>
          <p:cNvGraphicFramePr/>
          <p:nvPr/>
        </p:nvGraphicFramePr>
        <p:xfrm>
          <a:off x="457200" y="1737360"/>
          <a:ext cx="7498080" cy="2103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순서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도구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무엇을 보나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배운 날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1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logcat -s AndroidRuntime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크래시 스택 (Dagger 누락 · 예외)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4 실습 7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2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dumpsys &lt;service&gt;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서비스 상태 (statusbar · car_service · SurfaceFlinger · meminfo)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2·3·4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3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cmd overlay list / service list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매칭 [x] [ ] --- · 서비스 등록 여부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 · Day 4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4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getenforce · logcat | grep avc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SELinux 거부 (scontext · tcontext)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2 실습 9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5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adb remount 상태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remount succeeded 인가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4 실습 1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6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logcat -s CarPropertyService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권한 거부 → 필요한 권한 이름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4 실습 10·12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7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Perfetto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어느 구간이 느린가 (flow · SQL)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Day 3·4 실습 13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F9A001BB-7BB3-4F19-BA33-1BEE7DF39417}"/>
              </a:ext>
            </a:extLst>
          </p:cNvPr>
          <p:cNvSpPr>
            <a:spLocks noGrp="1"/>
          </p:cNvSpPr>
          <p:nvPr/>
        </p:nvSpPr>
        <p:spPr>
          <a:xfrm>
            <a:off x="8229600" y="40233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86DF64-B7C7-463C-9DAE-CA5D32717268}"/>
              </a:ext>
            </a:extLst>
          </p:cNvPr>
          <p:cNvSpPr>
            <a:spLocks noGrp="1"/>
          </p:cNvSpPr>
          <p:nvPr/>
        </p:nvSpPr>
        <p:spPr>
          <a:xfrm>
            <a:off x="8412480" y="40690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현장 적용 제안</a:t>
            </a:r>
            <a:endParaRPr sz="12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CC28A10-2A1B-4E1B-903D-C749095D07EA}"/>
              </a:ext>
            </a:extLst>
          </p:cNvPr>
          <p:cNvSpPr>
            <a:spLocks noGrp="1"/>
          </p:cNvSpPr>
          <p:nvPr/>
        </p:nvSpPr>
        <p:spPr>
          <a:xfrm>
            <a:off x="8412480" y="43891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① 우리 제품 SystemUI 색·아이콘 RRO 1개</a:t>
            </a:r>
            <a:endParaRPr sz="1000"/>
          </a:p>
          <a:p>
            <a:pPr marL="0" indent="0">
              <a:buNone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우리 HAL 속성 1개를 CarPropertyManager 로 읽는 앱</a:t>
            </a:r>
            <a:endParaRPr sz="1000"/>
          </a:p>
          <a:p>
            <a:pPr marL="0" indent="0">
              <a:buNone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③ 서비스 하나를 Perfetto 로 캡처해 왕복 시간 기록</a:t>
            </a:r>
            <a:endParaRPr sz="10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351A55A-D577-43C9-96B3-1B1A4E59B8B7}"/>
              </a:ext>
            </a:extLst>
          </p:cNvPr>
          <p:cNvSpPr>
            <a:spLocks noGrp="1"/>
          </p:cNvSpPr>
          <p:nvPr/>
        </p:nvSpPr>
        <p:spPr>
          <a:xfrm>
            <a:off x="457200" y="539496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델타 배포 판단표(슬라이드 5) + 이 진단 순서 카드 — 4일간 쓴 도구를 문제 해결 순서로 재배열한 것</a:t>
            </a:r>
            <a:endParaRPr sz="110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29600" y="1737611"/>
            <a:ext cx="3474720" cy="210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94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2C9BA9-F8B7-407D-A390-A8843A46C4A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C7C963-C2B9-4952-9EFE-78F862EC2077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정리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4AC785-C58E-438B-A699-0C0AF2E9CDD5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4 Worksheet — 20문제, 20분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BD8ED5-7B43-495F-803A-5B9C4D41605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C4A1AA-0721-493E-AA90-9555F9AC467A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23</a:t>
            </a:r>
            <a:endParaRPr sz="900"/>
          </a:p>
        </p:txBody>
      </p:sp>
      <p:graphicFrame>
        <p:nvGraphicFramePr>
          <p:cNvPr id="20" name="Table 0"/>
          <p:cNvGraphicFramePr/>
          <p:nvPr/>
        </p:nvGraphicFramePr>
        <p:xfrm>
          <a:off x="457200" y="1737360"/>
          <a:ext cx="7498080" cy="19888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유형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문제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범위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객관식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 ~ Q8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file_contexts 위치 · overlayable · --- · Car SystemUI · 2단계 remount · Dagger 누락 · SYSTEM_ALERT_WINDOW · Automotive 경로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단답형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Q9 ~ Q13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/apex/&lt;name&gt;@&lt;ver&gt; · hasCode · aapt dump resources · cmd car_service · IVehicle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빈칸 채우기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Q14 ~ Q17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AVB/APK 키 · targetPackage/targetName · doFrame/RenderThread · areaId/getCarPropertyConfig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순번 지정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Q18 ~ Q19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Car SystemUI RRO 절차 · 온도 버튼 경로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선잇기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Q20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델타 배포 판단표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46310F24-519B-4CB9-9480-98531C690231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7315200" cy="13716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Day4_Worksheet.html 을 열어 풀고 채점하기 → 문제별 해설 확인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종이로 풀 경우 인쇄 (문제만) → 강사가 정답·해설 모두 보기로 풀이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16 / 20 이상이면 오늘 내용을 충분히 이해한 것</a:t>
            </a:r>
            <a:endParaRPr sz="12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C8D811D-CBFD-4041-9DFD-98B6C701729C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65760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BE84542-1E42-4F5D-B286-EC02AAE5EAE7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Day 4 Worksheet 열기</a:t>
            </a:r>
            <a:endParaRPr sz="115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31128" y="1737360"/>
            <a:ext cx="3471664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63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64570C-740A-4E03-8931-A2B8C8DDE874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9511FC-CC45-4F82-A3CC-3F39E9B39F79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4일 과정 종료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1B3C93-A6B4-4309-B5A7-B804CAB98BAE}"/>
              </a:ext>
            </a:extLst>
          </p:cNvPr>
          <p:cNvSpPr>
            <a:spLocks noGrp="1"/>
          </p:cNvSpPr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— 무엇을 가져가는가</a:t>
            </a:r>
            <a:endParaRPr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C2FA26-82F3-4E77-9AA3-2D1C9A3CF979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A2DF19-99C1-4AB3-AD1D-544DBDDF401F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1</a:t>
            </a:r>
            <a:endParaRPr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BF978A-B7BE-4777-BFC5-52D0F68EEB4D}"/>
              </a:ext>
            </a:extLst>
          </p:cNvPr>
          <p:cNvSpPr>
            <a:spLocks noGrp="1"/>
          </p:cNvSpPr>
          <p:nvPr/>
        </p:nvSpPr>
        <p:spPr>
          <a:xfrm>
            <a:off x="2926080" y="192024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 는 code + Parcel · Zygote fork · AIDL Stub/Proxy · DeathRecipient · Buffer 1 MB → FD</a:t>
            </a:r>
            <a:endParaRPr sz="11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9C20311-1A38-4C6E-BE27-F95BB77D8910}"/>
              </a:ext>
            </a:extLst>
          </p:cNvPr>
          <p:cNvSpPr>
            <a:spLocks noGrp="1"/>
          </p:cNvSpPr>
          <p:nvPr/>
        </p:nvSpPr>
        <p:spPr>
          <a:xfrm>
            <a:off x="731520" y="26974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6B38AB-998C-4F36-8215-270AD0A6FF1F}"/>
              </a:ext>
            </a:extLst>
          </p:cNvPr>
          <p:cNvSpPr>
            <a:spLocks noGrp="1"/>
          </p:cNvSpPr>
          <p:nvPr/>
        </p:nvSpPr>
        <p:spPr>
          <a:xfrm>
            <a:off x="731520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2</a:t>
            </a:r>
            <a:endParaRPr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BCE6F1D-2725-4387-960A-9E5F9124FA44}"/>
              </a:ext>
            </a:extLst>
          </p:cNvPr>
          <p:cNvSpPr>
            <a:spLocks noGrp="1"/>
          </p:cNvSpPr>
          <p:nvPr/>
        </p:nvSpPr>
        <p:spPr>
          <a:xfrm>
            <a:off x="2926080" y="269748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libbinder Bn/Bp 를 손으로 · aidl_interface · getCallingUid · init.rc/SELinux · AIDL HAL · VINTF</a:t>
            </a:r>
            <a:endParaRPr sz="11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E7A8B0C-016F-403B-97A2-30813E91FFD5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49D4505-BBA1-45E1-87F8-D0B1A88FFB83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3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9CE6F2-4AAD-4373-8CA1-F06351E3169F}"/>
              </a:ext>
            </a:extLst>
          </p:cNvPr>
          <p:cNvSpPr>
            <a:spLocks noGrp="1"/>
          </p:cNvSpPr>
          <p:nvPr/>
        </p:nvSpPr>
        <p:spPr>
          <a:xfrm>
            <a:off x="2926080" y="347472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sp/RefBase · Thread · Looper 를 밑에서부터 · JNI · SurfaceFlinger BufferQueue · pipe/ashmem/memfd · LMKD</a:t>
            </a:r>
            <a:endParaRPr sz="11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18F6789-F4CA-4B85-AF45-DABB0AC6411E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BAC98B-ADE9-46C4-BC1B-B22D421FFE81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4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4DC9D0-39FF-4B6E-98B8-908A7A910B28}"/>
              </a:ext>
            </a:extLst>
          </p:cNvPr>
          <p:cNvSpPr>
            <a:spLocks noGrp="1"/>
          </p:cNvSpPr>
          <p:nvPr/>
        </p:nvSpPr>
        <p:spPr>
          <a:xfrm>
            <a:off x="2926080" y="42519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델타 배포 판단표 · APEX · RRO 계약 · Car SystemUI · QS 타일 · WMS 창 · CarService → VHAL · 버튼 한 번의 flow</a:t>
            </a:r>
            <a:endParaRPr sz="11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399C451-6CC3-41FC-A9E3-2971468F22BC}"/>
              </a:ext>
            </a:extLst>
          </p:cNvPr>
          <p:cNvSpPr>
            <a:spLocks noGrp="1"/>
          </p:cNvSpPr>
          <p:nvPr/>
        </p:nvSpPr>
        <p:spPr>
          <a:xfrm>
            <a:off x="731520" y="5029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FCAF07F-DC2B-44FD-B48A-0AB62B950A80}"/>
              </a:ext>
            </a:extLst>
          </p:cNvPr>
          <p:cNvSpPr>
            <a:spLocks noGrp="1"/>
          </p:cNvSpPr>
          <p:nvPr/>
        </p:nvSpPr>
        <p:spPr>
          <a:xfrm>
            <a:off x="731520" y="5029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도구</a:t>
            </a:r>
            <a:endParaRPr sz="13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2A183CF-47E7-420F-8E13-E0699D64CCAC}"/>
              </a:ext>
            </a:extLst>
          </p:cNvPr>
          <p:cNvSpPr>
            <a:spLocks noGrp="1"/>
          </p:cNvSpPr>
          <p:nvPr/>
        </p:nvSpPr>
        <p:spPr>
          <a:xfrm>
            <a:off x="2926080" y="502920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adb shell · dumpsys · service/cmd · ftrace · strace · Perfetto — "안 될 때 보는 순서" 로</a:t>
            </a:r>
            <a:endParaRPr sz="11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7A69EF-1D02-4C19-9B9E-7F19BFAF1A3C}"/>
              </a:ext>
            </a:extLst>
          </p:cNvPr>
          <p:cNvSpPr>
            <a:spLocks noGrp="1"/>
          </p:cNvSpPr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i="1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수고하셨습니다. 실습 디렉토리(day2·day3·simple_apex)와 Emulator 이미지는 그대로 두고, 현장 적용 제안 3가지를 한 달 안에 해 보세요.</a:t>
            </a:r>
            <a:endParaRPr sz="1300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95360" y="1921678"/>
            <a:ext cx="2926080" cy="370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67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9132</Words>
  <Application>Microsoft Office PowerPoint</Application>
  <DocSecurity>0</DocSecurity>
  <PresentationFormat>와이드스크린</PresentationFormat>
  <Paragraphs>521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jungin kim</cp:lastModifiedBy>
  <cp:revision>1</cp:revision>
  <dcterms:created xsi:type="dcterms:W3CDTF">2026-09-17T15:33:34Z</dcterms:created>
  <dcterms:modified xsi:type="dcterms:W3CDTF">2026-09-17T15:45:19Z</dcterms:modified>
</cp:coreProperties>
</file>